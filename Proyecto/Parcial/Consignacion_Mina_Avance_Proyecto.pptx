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327" r:id="rId2"/>
    <p:sldId id="308" r:id="rId3"/>
    <p:sldId id="328" r:id="rId4"/>
    <p:sldId id="567" r:id="rId5"/>
    <p:sldId id="479" r:id="rId6"/>
    <p:sldId id="487" r:id="rId7"/>
    <p:sldId id="481" r:id="rId8"/>
    <p:sldId id="482" r:id="rId9"/>
    <p:sldId id="483" r:id="rId10"/>
    <p:sldId id="484" r:id="rId11"/>
    <p:sldId id="485" r:id="rId12"/>
    <p:sldId id="486" r:id="rId13"/>
    <p:sldId id="307" r:id="rId14"/>
    <p:sldId id="260" r:id="rId15"/>
  </p:sldIdLst>
  <p:sldSz cx="12192000" cy="6858000"/>
  <p:notesSz cx="6858000" cy="9144000"/>
  <p:embeddedFontLst>
    <p:embeddedFont>
      <p:font typeface="Space Grotesk" pitchFamily="2" charset="77"/>
      <p:regular r:id="rId17"/>
      <p:bold r:id="rId18"/>
    </p:embeddedFont>
    <p:embeddedFont>
      <p:font typeface="Space Grotesk Medium" pitchFamily="2" charset="77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4" roundtripDataSignature="AMtx7mhEuWafZEh3w8W+159qWsthy+w3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D4B4C"/>
    <a:srgbClr val="02BFFF"/>
    <a:srgbClr val="E4E4E4"/>
    <a:srgbClr val="06E4FF"/>
    <a:srgbClr val="00B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70"/>
    <p:restoredTop sz="82804"/>
  </p:normalViewPr>
  <p:slideViewPr>
    <p:cSldViewPr snapToGrid="0">
      <p:cViewPr varScale="1">
        <p:scale>
          <a:sx n="89" d="100"/>
          <a:sy n="89" d="100"/>
        </p:scale>
        <p:origin x="175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84" Type="http://customschemas.google.com/relationships/presentationmetadata" Target="metadata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Space Grotesk" pitchFamily="2" charset="77"/>
        <a:ea typeface="Space Grotesk" pitchFamily="2" charset="77"/>
        <a:cs typeface="Space Grotesk" pitchFamily="2" charset="77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77D757E-6A79-0324-A8AB-3079642B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8B850CB4-35B2-39BE-5E67-0293FDF57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B49DA5A5-8EA9-48A8-C51C-6C7FDF454E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683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32d191d51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32d191d51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576DDAE7-EB12-ECEA-AB06-164038F8E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>
            <a:extLst>
              <a:ext uri="{FF2B5EF4-FFF2-40B4-BE49-F238E27FC236}">
                <a16:creationId xmlns:a16="http://schemas.microsoft.com/office/drawing/2014/main" id="{5DAF25B6-1D50-D998-29E6-03E39417F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PE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194" name="Google Shape;194;p11:notes">
            <a:extLst>
              <a:ext uri="{FF2B5EF4-FFF2-40B4-BE49-F238E27FC236}">
                <a16:creationId xmlns:a16="http://schemas.microsoft.com/office/drawing/2014/main" id="{715DF928-9BFF-A4D6-EFC0-FA0F93685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0220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F9EDF313-C06C-5ACE-9BD5-B80045A5A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3738EEC5-6178-A5F6-497D-D64CE7247F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EFFAD75C-BC43-889B-C3DE-FC2B2EE7B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22573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D7C9B651-C125-7CA6-F182-C966B7AF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345B28B1-39B1-176F-5061-E913A67C8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4D1874FD-3851-C93F-5E0A-5C4482D348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9539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0E286FE-B3C3-E865-5864-358C95BA1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B107DD3E-9FA9-C677-FDE5-F224FD516A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13CFCE25-0B47-DE5A-56C4-172BC2369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7780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86C28A7-6F20-0050-F21D-8DE8C7C8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CEE51B28-32F6-912D-A605-95372CC13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0F025579-A3A9-B2D4-9BDE-9F274AD377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86605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F8961964-0DB3-B77B-0B0D-2BF1DD988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239817BE-92BD-1FDD-6EC7-A668A26A57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DD206BE2-C07C-2F92-F844-ED4C809AD1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72479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E19C9DD8-D1B2-0D75-34CF-35D9ADF0B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7EB25C6B-B5F9-EB5C-81C0-F50E2BD4F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88D73C59-522A-4B46-BB67-A5325040D7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86660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899B7C4-299B-3FE2-F61A-B3D728CEA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D4391536-A98B-FAD6-A2B5-54E72F757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03398780-ACC3-C6DF-02E3-33EAA9C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63626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B19CA93-C685-2253-7586-58F148BA7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9C242EB5-E9B6-1221-D637-5C8C84665C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D396722A-DD95-ED82-0176-A9C3DF956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18178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E24E620-22CB-5DAE-06F7-A7EF97E0D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D7B94E28-B637-7535-DE8F-45707150DA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EC9D1CAF-CE58-113A-613F-B11514AC43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30125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F0FDF7D-E1CC-D3C0-6E1C-B5A6D872A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25B6778D-F0C6-D2D1-35A7-6DB34AC35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3E020E8F-CEBE-3DA3-B940-F439D87A59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8154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 type="tx">
  <p:cSld name="Títul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21" name="Google Shape;21;p4"/>
          <p:cNvSpPr/>
          <p:nvPr/>
        </p:nvSpPr>
        <p:spPr>
          <a:xfrm>
            <a:off x="-137067" y="-66700"/>
            <a:ext cx="12470000" cy="7102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dirty="0">
              <a:latin typeface="Space Grotesk" pitchFamily="2" charset="77"/>
              <a:cs typeface="Space Grotesk" pitchFamily="2" charset="77"/>
            </a:endParaRPr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 amt="32000"/>
          </a:blip>
          <a:srcRect r="1117" b="15504"/>
          <a:stretch/>
        </p:blipFill>
        <p:spPr>
          <a:xfrm>
            <a:off x="-139000" y="-79466"/>
            <a:ext cx="12469999" cy="71070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4"/>
          <p:cNvGrpSpPr/>
          <p:nvPr/>
        </p:nvGrpSpPr>
        <p:grpSpPr>
          <a:xfrm>
            <a:off x="529717" y="480467"/>
            <a:ext cx="11136416" cy="533533"/>
            <a:chOff x="314313" y="360350"/>
            <a:chExt cx="8352312" cy="400150"/>
          </a:xfrm>
        </p:grpSpPr>
        <p:pic>
          <p:nvPicPr>
            <p:cNvPr id="24" name="Google Shape;24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" name="Google Shape;26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48099" y="5870934"/>
            <a:ext cx="510800" cy="540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5527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6" name="Google Shape;36;p6"/>
          <p:cNvSpPr/>
          <p:nvPr/>
        </p:nvSpPr>
        <p:spPr>
          <a:xfrm>
            <a:off x="-139000" y="-95700"/>
            <a:ext cx="12470000" cy="7123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dirty="0">
              <a:latin typeface="Space Grotesk" pitchFamily="2" charset="77"/>
              <a:cs typeface="Space Grotesk" pitchFamily="2" charset="77"/>
            </a:endParaRPr>
          </a:p>
        </p:txBody>
      </p:sp>
      <p:grpSp>
        <p:nvGrpSpPr>
          <p:cNvPr id="37" name="Google Shape;37;p6"/>
          <p:cNvGrpSpPr/>
          <p:nvPr/>
        </p:nvGrpSpPr>
        <p:grpSpPr>
          <a:xfrm>
            <a:off x="527734" y="480467"/>
            <a:ext cx="11136535" cy="533533"/>
            <a:chOff x="314225" y="360350"/>
            <a:chExt cx="8352401" cy="400150"/>
          </a:xfrm>
        </p:grpSpPr>
        <p:pic>
          <p:nvPicPr>
            <p:cNvPr id="38" name="Google Shape;38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393325" y="360350"/>
              <a:ext cx="1273301" cy="400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225" y="409100"/>
              <a:ext cx="1573350" cy="30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" name="Google Shape;4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51497" y="5896630"/>
            <a:ext cx="504017" cy="533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55157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jp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4B4C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82F38B15-E2E5-BE18-90E8-A57115145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4">
            <a:extLst>
              <a:ext uri="{FF2B5EF4-FFF2-40B4-BE49-F238E27FC236}">
                <a16:creationId xmlns:a16="http://schemas.microsoft.com/office/drawing/2014/main" id="{6861DA70-8DA1-8805-2A00-0313D0EAA7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81" y="2800019"/>
            <a:ext cx="5192637" cy="12579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3418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/>
        </p:nvSpPr>
        <p:spPr>
          <a:xfrm>
            <a:off x="855267" y="2317784"/>
            <a:ext cx="2120800" cy="6088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s" sz="2667" dirty="0">
                <a:solidFill>
                  <a:srgbClr val="4E4B4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CURSO</a:t>
            </a:r>
            <a:endParaRPr sz="2667" dirty="0">
              <a:solidFill>
                <a:srgbClr val="4E4B4C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6" name="Google Shape;56;p10"/>
          <p:cNvSpPr txBox="1"/>
          <p:nvPr/>
        </p:nvSpPr>
        <p:spPr>
          <a:xfrm>
            <a:off x="703599" y="3234667"/>
            <a:ext cx="6880541" cy="2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80000"/>
              </a:lnSpc>
              <a:buClr>
                <a:schemeClr val="dk1"/>
              </a:buClr>
              <a:buSzPts val="1100"/>
            </a:pPr>
            <a:r>
              <a:rPr lang="es" sz="7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INGENIERÍA DE</a:t>
            </a:r>
            <a:endParaRPr sz="7600" dirty="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s" sz="76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DATOS</a:t>
            </a:r>
            <a:endParaRPr sz="7600" dirty="0">
              <a:solidFill>
                <a:srgbClr val="EEEE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7" name="Google Shape;5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8099" y="5870934"/>
            <a:ext cx="510800" cy="54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>
                <a:solidFill>
                  <a:schemeClr val="lt1"/>
                </a:solidFill>
              </a:rPr>
              <a:pPr/>
              <a:t>2</a:t>
            </a:fld>
            <a:endParaRPr dirty="0">
              <a:solidFill>
                <a:schemeClr val="lt1"/>
              </a:solidFill>
            </a:endParaRPr>
          </a:p>
        </p:txBody>
      </p:sp>
      <p:sp>
        <p:nvSpPr>
          <p:cNvPr id="4" name="Google Shape;128;p5">
            <a:extLst>
              <a:ext uri="{FF2B5EF4-FFF2-40B4-BE49-F238E27FC236}">
                <a16:creationId xmlns:a16="http://schemas.microsoft.com/office/drawing/2014/main" id="{47DDB4F3-D121-5BC0-B13D-7F3CFF0B666F}"/>
              </a:ext>
            </a:extLst>
          </p:cNvPr>
          <p:cNvSpPr txBox="1"/>
          <p:nvPr/>
        </p:nvSpPr>
        <p:spPr>
          <a:xfrm>
            <a:off x="810387" y="5683228"/>
            <a:ext cx="233037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r>
              <a:rPr lang="en-US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 u="none" strike="noStrike" cap="none" dirty="0">
              <a:solidFill>
                <a:srgbClr val="000000"/>
              </a:solidFill>
              <a:latin typeface="Space Grotesk" pitchFamily="2" charset="77"/>
              <a:cs typeface="Space Grotesk" pitchFamily="2" charset="77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4B4C"/>
        </a:solidFill>
        <a:effectLst/>
      </p:bgPr>
    </p:bg>
    <p:spTree>
      <p:nvGrpSpPr>
        <p:cNvPr id="1" name="Shape 195">
          <a:extLst>
            <a:ext uri="{FF2B5EF4-FFF2-40B4-BE49-F238E27FC236}">
              <a16:creationId xmlns:a16="http://schemas.microsoft.com/office/drawing/2014/main" id="{794F31AF-A429-388D-6507-851518FB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1">
            <a:extLst>
              <a:ext uri="{FF2B5EF4-FFF2-40B4-BE49-F238E27FC236}">
                <a16:creationId xmlns:a16="http://schemas.microsoft.com/office/drawing/2014/main" id="{2F8D558E-9118-C52C-59DE-CD1ED00077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3316" y="521765"/>
            <a:ext cx="504610" cy="53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1" descr="Una caricatura de un hombre&#10;&#10;Descripción generada automáticamente con confianza media">
            <a:extLst>
              <a:ext uri="{FF2B5EF4-FFF2-40B4-BE49-F238E27FC236}">
                <a16:creationId xmlns:a16="http://schemas.microsoft.com/office/drawing/2014/main" id="{8CE0917E-D720-9C7F-4B94-F32C87EA12F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" t="27533" r="358" b="17895"/>
          <a:stretch/>
        </p:blipFill>
        <p:spPr>
          <a:xfrm>
            <a:off x="692273" y="1360714"/>
            <a:ext cx="10411156" cy="355962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>
            <a:extLst>
              <a:ext uri="{FF2B5EF4-FFF2-40B4-BE49-F238E27FC236}">
                <a16:creationId xmlns:a16="http://schemas.microsoft.com/office/drawing/2014/main" id="{545C4CB6-536F-F344-99B0-51FB25E2CA70}"/>
              </a:ext>
            </a:extLst>
          </p:cNvPr>
          <p:cNvSpPr txBox="1"/>
          <p:nvPr/>
        </p:nvSpPr>
        <p:spPr>
          <a:xfrm>
            <a:off x="1088570" y="4361044"/>
            <a:ext cx="1110343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PE" sz="5400" u="none" strike="noStrike" cap="none" dirty="0">
                <a:solidFill>
                  <a:schemeClr val="lt1"/>
                </a:solidFill>
                <a:latin typeface="Space Grotesk" pitchFamily="2" charset="77"/>
                <a:cs typeface="Space Grotesk" pitchFamily="2" charset="77"/>
                <a:sym typeface="Arial"/>
              </a:rPr>
              <a:t>Compañía Minera Las Bambas S.A.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PE" sz="5400" dirty="0">
                <a:solidFill>
                  <a:srgbClr val="00E1FF"/>
                </a:solidFill>
                <a:latin typeface="Space Grotesk" pitchFamily="2" charset="77"/>
                <a:cs typeface="Space Grotesk" pitchFamily="2" charset="77"/>
              </a:rPr>
              <a:t>Minería - Logística y Cadena de Suministro</a:t>
            </a:r>
            <a:endParaRPr lang="es-PE" sz="1400" u="none" strike="noStrike" cap="none" dirty="0">
              <a:solidFill>
                <a:srgbClr val="000000"/>
              </a:solidFill>
              <a:latin typeface="Space Grotesk" pitchFamily="2" charset="77"/>
              <a:cs typeface="Space Grotesk" pitchFamily="2" charset="77"/>
              <a:sym typeface="Arial"/>
            </a:endParaRPr>
          </a:p>
        </p:txBody>
      </p:sp>
      <p:pic>
        <p:nvPicPr>
          <p:cNvPr id="199" name="Google Shape;199;p11">
            <a:extLst>
              <a:ext uri="{FF2B5EF4-FFF2-40B4-BE49-F238E27FC236}">
                <a16:creationId xmlns:a16="http://schemas.microsoft.com/office/drawing/2014/main" id="{A9362D80-E2E9-9140-B244-6B9BB4E68D5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4713" y="369734"/>
            <a:ext cx="2892659" cy="7007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827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648558F3-A5B0-A69D-225E-9F1152B3D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7F5EE0E0-9B62-B871-C710-FBCA4FDC93B6}"/>
              </a:ext>
            </a:extLst>
          </p:cNvPr>
          <p:cNvSpPr txBox="1"/>
          <p:nvPr/>
        </p:nvSpPr>
        <p:spPr>
          <a:xfrm>
            <a:off x="738385" y="1645124"/>
            <a:ext cx="9144000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de Almacén: Stock de Materiales y Repuestos en Consignación
(CSV diario exportado por SAP con variables de id_material, descripción, proveedor, cantidades, mínimos de seguridad y ubicación)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AD344A1C-6839-9587-4E11-A313037B9B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4</a:t>
            </a:fld>
            <a:endParaRPr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D8EDF51-AF5F-DFC0-56E7-4FB1A113A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102608"/>
              </p:ext>
            </p:extLst>
          </p:nvPr>
        </p:nvGraphicFramePr>
        <p:xfrm>
          <a:off x="0" y="2285702"/>
          <a:ext cx="11687176" cy="4456722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3703630">
                  <a:extLst>
                    <a:ext uri="{9D8B030D-6E8A-4147-A177-3AD203B41FA5}">
                      <a16:colId xmlns:a16="http://schemas.microsoft.com/office/drawing/2014/main" val="197277315"/>
                    </a:ext>
                  </a:extLst>
                </a:gridCol>
                <a:gridCol w="3703630">
                  <a:extLst>
                    <a:ext uri="{9D8B030D-6E8A-4147-A177-3AD203B41FA5}">
                      <a16:colId xmlns:a16="http://schemas.microsoft.com/office/drawing/2014/main" val="31748907"/>
                    </a:ext>
                  </a:extLst>
                </a:gridCol>
                <a:gridCol w="4279916">
                  <a:extLst>
                    <a:ext uri="{9D8B030D-6E8A-4147-A177-3AD203B41FA5}">
                      <a16:colId xmlns:a16="http://schemas.microsoft.com/office/drawing/2014/main" val="1187479627"/>
                    </a:ext>
                  </a:extLst>
                </a:gridCol>
              </a:tblGrid>
              <a:tr h="6792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PE" sz="2800" dirty="0">
                          <a:solidFill>
                            <a:srgbClr val="4D4B4C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Rubro</a:t>
                      </a:r>
                    </a:p>
                  </a:txBody>
                  <a:tcPr marL="90000" marT="90000" marB="90000" anchor="ctr">
                    <a:solidFill>
                      <a:srgbClr val="02B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PE" sz="2800" dirty="0">
                          <a:solidFill>
                            <a:srgbClr val="4D4B4C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Dataset</a:t>
                      </a:r>
                    </a:p>
                  </a:txBody>
                  <a:tcPr marL="90000" marT="90000" marB="90000" anchor="ctr">
                    <a:solidFill>
                      <a:srgbClr val="02B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PE" sz="2800" dirty="0">
                          <a:solidFill>
                            <a:srgbClr val="4D4B4C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Tipos de datos</a:t>
                      </a:r>
                    </a:p>
                  </a:txBody>
                  <a:tcPr marL="90000" marT="90000" marB="90000" anchor="ctr">
                    <a:solidFill>
                      <a:srgbClr val="02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534801"/>
                  </a:ext>
                </a:extLst>
              </a:tr>
              <a:tr h="9443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Retail</a:t>
                      </a:r>
                    </a:p>
                  </a:txBody>
                  <a:tcPr marT="90000" marB="9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sales.csv, products.csv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Transaccional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953246"/>
                  </a:ext>
                </a:extLst>
              </a:tr>
              <a:tr h="944359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Salud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appointments.csv, patients.csv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Registros clínicos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14982"/>
                  </a:ext>
                </a:extLst>
              </a:tr>
              <a:tr h="944359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Finanzas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transactions.csv, customers.csv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Movimientos financieros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274601"/>
                  </a:ext>
                </a:extLst>
              </a:tr>
              <a:tr h="944359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Logística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shipments.csv, tracking.csv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Trazabilidad de envíos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088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622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7CFE90B5-739F-6347-316F-189A32D2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288405A1-B28B-EF45-8B98-2F50F29A64A2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Introducción y problema del negocio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81B85CBF-10D4-6AC5-A700-39557B61A2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5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B3595490-B4F4-0649-D830-37722C90AEB4}"/>
              </a:ext>
            </a:extLst>
          </p:cNvPr>
          <p:cNvSpPr txBox="1"/>
          <p:nvPr/>
        </p:nvSpPr>
        <p:spPr>
          <a:xfrm>
            <a:off x="738400" y="2593934"/>
            <a:ext cx="9227200" cy="1508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Contexto: Control de inventarios en consignación en almacenes mineros en los Andes peruanos, con alta dependencia de repuestos críticos de proveedores como Ferreyros y Komatsu.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Problema: Desabastecimiento de repuestos críticos (stockouts) debido a reportes manuales semanales por correo, deteniendo operaciones mineras con pérdidas de $10K-$50K USD por hora.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Automatización: Proveer visibilidad en tiempo real a los proveedores sobre el stock físico actual en mina para gatillar reposiciones automáticas y eliminar el desabastecimiento.</a:t>
            </a:r>
          </a:p>
        </p:txBody>
      </p:sp>
    </p:spTree>
    <p:extLst>
      <p:ext uri="{BB962C8B-B14F-4D97-AF65-F5344CB8AC3E}">
        <p14:creationId xmlns:p14="http://schemas.microsoft.com/office/powerpoint/2010/main" val="1535398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76939AB-4698-CB48-8F4B-F7CAEB670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2712735A-359A-CD61-7878-7B044835FAFD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 del avance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3ED15F0E-3519-FF64-5942-C10604A396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6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BE365190-58B5-DDA8-44A0-9BBB78220DB2}"/>
              </a:ext>
            </a:extLst>
          </p:cNvPr>
          <p:cNvSpPr txBox="1"/>
          <p:nvPr/>
        </p:nvSpPr>
        <p:spPr>
          <a:xfrm>
            <a:off x="738400" y="2593934"/>
            <a:ext cx="9227200" cy="104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Objetivo: Ingestar de forma automática y robusta los reportes diarios de SAP a Azure Data Lake (contenedor raw) orquestado mediante Airflow.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Alcance: Ingesta segura e inmutable desde el servidor local simulado hasta la zona Raw de almacenamiento seguro en nube, sentando las bases del procesamiento Medallion.</a:t>
            </a:r>
          </a:p>
        </p:txBody>
      </p:sp>
    </p:spTree>
    <p:extLst>
      <p:ext uri="{BB962C8B-B14F-4D97-AF65-F5344CB8AC3E}">
        <p14:creationId xmlns:p14="http://schemas.microsoft.com/office/powerpoint/2010/main" val="1066444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01175C4-8592-8028-0260-B9DFD16CE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74FCDFA4-43F0-611B-2DA3-E5410DE79382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Arquitectura conceptual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800DF53C-3F4B-CA8B-866B-D7F3F0BA36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7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FF831C14-C19A-A7A0-646A-7773F5526B02}"/>
              </a:ext>
            </a:extLst>
          </p:cNvPr>
          <p:cNvSpPr txBox="1"/>
          <p:nvPr/>
        </p:nvSpPr>
        <p:spPr>
          <a:xfrm>
            <a:off x="738400" y="2593934"/>
            <a:ext cx="9227200" cy="22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2000" dirty="0">
                <a:latin typeface="Space Grotesk" pitchFamily="2" charset="77"/>
                <a:cs typeface="Space Grotesk" pitchFamily="2" charset="77"/>
              </a:rPr>
              <a:t>SAP Local (Mina) -&gt; Apache Airflow (Orquestador) -&gt; Azure Data Lake (Contenedor Raw)</a:t>
            </a:r>
          </a:p>
          <a:p>
            <a:endParaRPr lang="es-PE" sz="2000" dirty="0">
              <a:latin typeface="Space Grotesk" pitchFamily="2" charset="77"/>
              <a:cs typeface="Space Grotesk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Fuentes de datos: CSVs diarios exportados por SAP con stock físico, niveles mínimos de seguridad y costos unitarios.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Orquestador: Apache Airflow (local/dockerizado) que controla la periodicidad diaria, reintentos y alertas.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Zona de almacenamiento: Contenedor 'raw' en Azure Data Lake Storage (ADLS) Gen2.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PE" sz="2000" dirty="0">
              <a:latin typeface="Space Grotesk" pitchFamily="2" charset="77"/>
              <a:cs typeface="Space Grotesk" pitchFamily="2" charset="77"/>
            </a:endParaRPr>
          </a:p>
          <a:p>
            <a:r>
              <a:rPr lang="es-PE" sz="2000" dirty="0">
                <a:latin typeface="Space Grotesk" pitchFamily="2" charset="77"/>
                <a:cs typeface="Space Grotesk" pitchFamily="2" charset="77"/>
              </a:rPr>
              <a:t>Justificación: ADLS Gen2 ofrece almacenamiento en la nube resiliente e inmutable, y Airflow asegura control del flujo diario, reintentos automatizados ante fallas de red y alertamiento.</a:t>
            </a:r>
          </a:p>
        </p:txBody>
      </p:sp>
    </p:spTree>
    <p:extLst>
      <p:ext uri="{BB962C8B-B14F-4D97-AF65-F5344CB8AC3E}">
        <p14:creationId xmlns:p14="http://schemas.microsoft.com/office/powerpoint/2010/main" val="2568340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C4FD8A8E-D95C-7079-7C9B-58BD4A0E6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395E998C-A325-B3CC-FCF3-2A471278482C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Descripción del pipeline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97596D55-5423-DC42-4C55-5C36BC2270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8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7B547F1F-0563-05CF-6CD9-AD74F6F6B9DB}"/>
              </a:ext>
            </a:extLst>
          </p:cNvPr>
          <p:cNvSpPr txBox="1"/>
          <p:nvPr/>
        </p:nvSpPr>
        <p:spPr>
          <a:xfrm>
            <a:off x="738400" y="2593934"/>
            <a:ext cx="9227200" cy="1508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DAG: telco_mina_consignacion_ingestion_dag
Tareas: esperar_csv_sap_consignacion (FileSensor) -&gt; subir_a_azure_y_archivar_consignacion (PythonOperator con WasbHook y archivado local).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Frecuencia: Ejecución diaria (@daily) tras el cierre de operaciones de almacén a la medianoche.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Manejo de errores: Sensor configurado con timeout de 5 min. Reintentos automáticos del pipeline si falla la conexión con Azure. Transaccionalidad de archivos (solo se mueven a archive/ tras subida exitosa).</a:t>
            </a:r>
          </a:p>
        </p:txBody>
      </p:sp>
    </p:spTree>
    <p:extLst>
      <p:ext uri="{BB962C8B-B14F-4D97-AF65-F5344CB8AC3E}">
        <p14:creationId xmlns:p14="http://schemas.microsoft.com/office/powerpoint/2010/main" val="3820481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1266077-BDCB-DE24-39C2-9780F94E7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89C282AA-9B6C-F9C8-4FFD-63939AE02A92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Uso de Git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B91EEA9C-7235-4DF7-6DA2-6912A61C20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9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5703066F-43E6-AC75-FD4E-AB7531A78FB8}"/>
              </a:ext>
            </a:extLst>
          </p:cNvPr>
          <p:cNvSpPr txBox="1"/>
          <p:nvPr/>
        </p:nvSpPr>
        <p:spPr>
          <a:xfrm>
            <a:off x="738400" y="2593934"/>
            <a:ext cx="9227200" cy="19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Repositorio: GitHub (dsai-de-airflow)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Estrategia: Gitflow, aislando los desarrollos nuevos en ramas feature/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Ramas utilizadas: main (producción), develop (integración), feature/consignment-inventory-ingestion (desarrollo)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Organización: Carpetas estructuradas (dags/, datos_simulados/) y README.md que documenta la instalación y despliegue del proyecto.</a:t>
            </a:r>
          </a:p>
        </p:txBody>
      </p:sp>
    </p:spTree>
    <p:extLst>
      <p:ext uri="{BB962C8B-B14F-4D97-AF65-F5344CB8AC3E}">
        <p14:creationId xmlns:p14="http://schemas.microsoft.com/office/powerpoint/2010/main" val="62509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8A64335-7DB4-FFE4-B5AB-B2ACEFD0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E102F111-AECA-5420-624C-A93DFDF94643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Resultados y validación*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FCA3435F-EA2A-2C69-2CE0-F528AC1EA0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10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F8EA399E-B68B-9AA5-AB11-C05606659F35}"/>
              </a:ext>
            </a:extLst>
          </p:cNvPr>
          <p:cNvSpPr txBox="1"/>
          <p:nvPr/>
        </p:nvSpPr>
        <p:spPr>
          <a:xfrm>
            <a:off x="738400" y="2593934"/>
            <a:ext cx="9227200" cy="1508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Validación: Ejecución local exitosa con 100% de éxito en la subida y archivado.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Outputs en raw: Archivo inmutable en raw/inventario_consignacion/sap_consignacion_YYYYMMDD_HHMMSS.csv.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[Espacio reservado para capturas de pantalla de la UI de Airflow y del Portal de Azure Storage]</a:t>
            </a:r>
          </a:p>
        </p:txBody>
      </p:sp>
    </p:spTree>
    <p:extLst>
      <p:ext uri="{BB962C8B-B14F-4D97-AF65-F5344CB8AC3E}">
        <p14:creationId xmlns:p14="http://schemas.microsoft.com/office/powerpoint/2010/main" val="2327467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31AA438-53BF-C29C-EE25-FA9AE491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E2742497-DBED-2624-EA0E-58752E4AD081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Desafíos encontrados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3964FCA6-6E43-C1BB-166E-278FE4DA8C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11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FB691931-B80D-41C1-E1E9-BE6C290350D1}"/>
              </a:ext>
            </a:extLst>
          </p:cNvPr>
          <p:cNvSpPr txBox="1"/>
          <p:nvPr/>
        </p:nvSpPr>
        <p:spPr>
          <a:xfrm>
            <a:off x="738400" y="2593934"/>
            <a:ext cx="9227200" cy="104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Desafío: Mapear correctamente los volúmenes del sistema de archivos local con el contenedor Docker de Airflow para que el FileSensor detecte el archivo de forma confiable.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Aprendizaje: Importancia de la transaccionalidad al subir y mover archivos locales en una sola tarea atómica para evitar duplicaciones.</a:t>
            </a:r>
          </a:p>
        </p:txBody>
      </p:sp>
    </p:spTree>
    <p:extLst>
      <p:ext uri="{BB962C8B-B14F-4D97-AF65-F5344CB8AC3E}">
        <p14:creationId xmlns:p14="http://schemas.microsoft.com/office/powerpoint/2010/main" val="2543611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D7AA7AB-95A2-6E64-F4C9-688843ACD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0E1158CC-82B5-76B8-E91A-F33301A7C9D0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Próximos pasos hacia el proyecto final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5FCA9E21-0B65-9652-DCB8-22606BB1A7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12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2937B989-5786-5FDC-3153-8FCFC8661CDA}"/>
              </a:ext>
            </a:extLst>
          </p:cNvPr>
          <p:cNvSpPr txBox="1"/>
          <p:nvPr/>
        </p:nvSpPr>
        <p:spPr>
          <a:xfrm>
            <a:off x="738400" y="2593934"/>
            <a:ext cx="9227200" cy="104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Data Product: Tablero de control de inventario en consignación compartido con proveedores y sistema de alertas automáticas de reposición.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Bronze: Histórico consolidado 1:1.
Silver: Deduplicación temporal, tipado y cuarentena de mediciones corruptas (stock negativo).
Gold: Datamart de reposición rápida (stock &lt; seguridad).</a:t>
            </a:r>
          </a:p>
        </p:txBody>
      </p:sp>
    </p:spTree>
    <p:extLst>
      <p:ext uri="{BB962C8B-B14F-4D97-AF65-F5344CB8AC3E}">
        <p14:creationId xmlns:p14="http://schemas.microsoft.com/office/powerpoint/2010/main" val="2344628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4B4C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DE30741F-029A-6FA4-1FB7-63957AA4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8;p25">
            <a:extLst>
              <a:ext uri="{FF2B5EF4-FFF2-40B4-BE49-F238E27FC236}">
                <a16:creationId xmlns:a16="http://schemas.microsoft.com/office/drawing/2014/main" id="{08CEC9DD-E250-18C8-62DC-C965EA3F5D2B}"/>
              </a:ext>
            </a:extLst>
          </p:cNvPr>
          <p:cNvSpPr txBox="1"/>
          <p:nvPr/>
        </p:nvSpPr>
        <p:spPr>
          <a:xfrm>
            <a:off x="1659730" y="2536468"/>
            <a:ext cx="8872539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s-PE" sz="11000" b="0" i="0" u="none" strike="noStrike" cap="none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¡Gracias!</a:t>
            </a:r>
            <a:endParaRPr sz="1400" u="none" strike="noStrike" cap="none" dirty="0">
              <a:solidFill>
                <a:srgbClr val="000000"/>
              </a:solidFill>
              <a:latin typeface="Space Grotesk" pitchFamily="2" charset="77"/>
              <a:cs typeface="Space Grotesk" pitchFamily="2" charset="7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2363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4B4C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81" y="2800019"/>
            <a:ext cx="5192637" cy="1257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29901</TotalTime>
  <Words>257</Words>
  <Application>Microsoft Macintosh PowerPoint</Application>
  <PresentationFormat>Panorámica</PresentationFormat>
  <Paragraphs>67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Space Grotesk Medium</vt:lpstr>
      <vt:lpstr>Calibri</vt:lpstr>
      <vt:lpstr>Space Grotesk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Shin Kishimoto</dc:creator>
  <cp:lastModifiedBy>Isabel Aguilera</cp:lastModifiedBy>
  <cp:revision>92</cp:revision>
  <dcterms:created xsi:type="dcterms:W3CDTF">2023-05-04T18:59:39Z</dcterms:created>
  <dcterms:modified xsi:type="dcterms:W3CDTF">2025-05-17T05:47:34Z</dcterms:modified>
</cp:coreProperties>
</file>