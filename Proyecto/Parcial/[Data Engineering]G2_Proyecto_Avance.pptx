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327" r:id="rId2"/>
    <p:sldId id="308" r:id="rId3"/>
    <p:sldId id="328" r:id="rId4"/>
    <p:sldId id="570" r:id="rId5"/>
    <p:sldId id="571" r:id="rId6"/>
    <p:sldId id="568" r:id="rId7"/>
    <p:sldId id="569" r:id="rId8"/>
    <p:sldId id="572" r:id="rId9"/>
    <p:sldId id="575" r:id="rId10"/>
    <p:sldId id="485" r:id="rId11"/>
    <p:sldId id="486" r:id="rId12"/>
    <p:sldId id="574" r:id="rId13"/>
    <p:sldId id="307" r:id="rId14"/>
    <p:sldId id="260" r:id="rId15"/>
  </p:sldIdLst>
  <p:sldSz cx="12192000" cy="6858000"/>
  <p:notesSz cx="6858000" cy="9144000"/>
  <p:embeddedFontLst>
    <p:embeddedFont>
      <p:font typeface="Space Grotesk" pitchFamily="2" charset="77"/>
      <p:regular r:id="rId17"/>
      <p:bold r:id="rId18"/>
    </p:embeddedFont>
    <p:embeddedFont>
      <p:font typeface="Space Grotesk Medium" pitchFamily="2" charset="77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4" roundtripDataSignature="AMtx7mhEuWafZEh3w8W+159qWsthy+w3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BFFF"/>
    <a:srgbClr val="06E4FF"/>
    <a:srgbClr val="000000"/>
    <a:srgbClr val="00BFFE"/>
    <a:srgbClr val="4D4B4C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21"/>
    <p:restoredTop sz="93039"/>
  </p:normalViewPr>
  <p:slideViewPr>
    <p:cSldViewPr snapToGrid="0">
      <p:cViewPr varScale="1">
        <p:scale>
          <a:sx n="130" d="100"/>
          <a:sy n="130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8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1EC318-6D35-7240-A2BA-827AE533F590}" type="doc">
      <dgm:prSet loTypeId="urn:microsoft.com/office/officeart/2005/8/layout/list1" loCatId="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55E7C7B-D595-EF45-9268-1041EA3BC5A6}">
      <dgm:prSet phldrT="[Text]"/>
      <dgm:spPr>
        <a:solidFill>
          <a:srgbClr val="02BFFF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PE" b="1" dirty="0">
              <a:latin typeface="Space Grotesk" pitchFamily="2" charset="77"/>
              <a:cs typeface="Space Grotesk" pitchFamily="2" charset="77"/>
            </a:rPr>
            <a:t>1. Reducción de Paradas por Desabastecimiento (Stockouts):</a:t>
          </a:r>
          <a:endParaRPr lang="en-US" dirty="0"/>
        </a:p>
      </dgm:t>
    </dgm:pt>
    <dgm:pt modelId="{9F65A075-B55A-2145-8FB2-58101F60BE2B}" type="parTrans" cxnId="{6035E6C6-1335-FB4E-BCA7-AC14C795C9FD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8AF09FF3-312E-5E49-8189-14278FE369B2}" type="sibTrans" cxnId="{6035E6C6-1335-FB4E-BCA7-AC14C795C9FD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BE29D6C1-5E55-F943-A96E-F8B03D34D2E3}">
      <dgm:prSet phldrT="[Text]"/>
      <dgm:spPr>
        <a:ln>
          <a:solidFill>
            <a:srgbClr val="02BFFF"/>
          </a:solidFill>
        </a:ln>
      </dgm:spPr>
      <dgm:t>
        <a:bodyPr/>
        <a:lstStyle/>
        <a:p>
          <a:pPr>
            <a:lnSpc>
              <a:spcPct val="150000"/>
            </a:lnSpc>
          </a:pPr>
          <a:r>
            <a:rPr lang="en-PE" dirty="0">
              <a:latin typeface="Space Grotesk" pitchFamily="2" charset="77"/>
              <a:cs typeface="Space Grotesk" pitchFamily="2" charset="77"/>
            </a:rPr>
            <a:t>Número de eventos en los que un material crítico llega a stock cero, deteniendo la operación minera. </a:t>
          </a:r>
          <a:r>
            <a:rPr lang="en-PE" i="1" dirty="0">
              <a:latin typeface="Space Grotesk" pitchFamily="2" charset="77"/>
              <a:cs typeface="Space Grotesk" pitchFamily="2" charset="77"/>
            </a:rPr>
            <a:t>(Meta: Reducir a 0 eventos).</a:t>
          </a:r>
          <a:r>
            <a:rPr lang="en-PE" dirty="0">
              <a:latin typeface="Space Grotesk" pitchFamily="2" charset="77"/>
              <a:cs typeface="Space Grotesk" pitchFamily="2" charset="77"/>
            </a:rPr>
            <a:t>   </a:t>
          </a:r>
          <a:endParaRPr lang="en-US" dirty="0"/>
        </a:p>
      </dgm:t>
    </dgm:pt>
    <dgm:pt modelId="{18AE8AF0-FB52-9F43-B993-F9DA16BF536C}" type="parTrans" cxnId="{55E5873B-1F71-6C49-8E4B-A01100CE0445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E3124271-9EBA-2748-ABB6-83D3C0DA49D2}" type="sibTrans" cxnId="{55E5873B-1F71-6C49-8E4B-A01100CE0445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3827FB96-7A0F-944C-A3F1-1630EFE7315C}">
      <dgm:prSet/>
      <dgm:spPr>
        <a:solidFill>
          <a:srgbClr val="02BFFF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PE" b="1" dirty="0">
              <a:latin typeface="Space Grotesk" pitchFamily="2" charset="77"/>
              <a:cs typeface="Space Grotesk" pitchFamily="2" charset="77"/>
            </a:rPr>
            <a:t>3. Eficiencia Administrativa (Horas Ahorradas):</a:t>
          </a:r>
          <a:endParaRPr lang="en-PE" dirty="0">
            <a:latin typeface="Space Grotesk" pitchFamily="2" charset="77"/>
            <a:cs typeface="Space Grotesk" pitchFamily="2" charset="77"/>
          </a:endParaRPr>
        </a:p>
      </dgm:t>
    </dgm:pt>
    <dgm:pt modelId="{E3A52881-DAE8-AD4C-A1AB-76B6BD7A3E1F}" type="parTrans" cxnId="{A277DB21-1135-434E-8D7F-2AD55CE9F218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43DED662-3BDA-3B4A-947B-1E18D8C54D65}" type="sibTrans" cxnId="{A277DB21-1135-434E-8D7F-2AD55CE9F218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981A9C3F-7E14-3F49-8CC2-8436EF275880}">
      <dgm:prSet phldrT="[Text]"/>
      <dgm:spPr>
        <a:solidFill>
          <a:srgbClr val="02BFFF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PE" b="1" dirty="0">
              <a:latin typeface="Space Grotesk" pitchFamily="2" charset="77"/>
              <a:cs typeface="Space Grotesk" pitchFamily="2" charset="77"/>
            </a:rPr>
            <a:t>2. Tiempo de Respuesta del Proveedor (Lead Time):</a:t>
          </a:r>
          <a:endParaRPr lang="en-US" dirty="0"/>
        </a:p>
      </dgm:t>
    </dgm:pt>
    <dgm:pt modelId="{B85F8DF8-B5BD-984E-B6C0-2CFCB35F6B9F}" type="sibTrans" cxnId="{D01578BA-5FED-8047-86B9-FA9C674853E0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4E92CF14-0700-A746-BACD-798334A68621}" type="parTrans" cxnId="{D01578BA-5FED-8047-86B9-FA9C674853E0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65816ADA-5313-A84A-80B4-95330B3C8058}">
      <dgm:prSet phldrT="[Text]"/>
      <dgm:spPr>
        <a:ln>
          <a:solidFill>
            <a:srgbClr val="02BFFF"/>
          </a:solidFill>
        </a:ln>
      </dgm:spPr>
      <dgm:t>
        <a:bodyPr/>
        <a:lstStyle/>
        <a:p>
          <a:pPr>
            <a:lnSpc>
              <a:spcPct val="150000"/>
            </a:lnSpc>
          </a:pPr>
          <a:r>
            <a:rPr lang="en-PE" dirty="0">
              <a:latin typeface="Space Grotesk" pitchFamily="2" charset="77"/>
              <a:cs typeface="Space Grotesk" pitchFamily="2" charset="77"/>
            </a:rPr>
            <a:t>Tiempo transcurrido desde que el stock cae por debajo del mínimo de seguridad hasta que el proveedor repone físicamente el material en mina. </a:t>
          </a:r>
          <a:r>
            <a:rPr lang="en-PE" i="1" dirty="0">
              <a:latin typeface="Space Grotesk" pitchFamily="2" charset="77"/>
              <a:cs typeface="Space Grotesk" pitchFamily="2" charset="77"/>
            </a:rPr>
            <a:t>(Meta: Reducción del 40% respecto al proceso manual).</a:t>
          </a:r>
          <a:r>
            <a:rPr lang="en-PE" dirty="0">
              <a:latin typeface="Space Grotesk" pitchFamily="2" charset="77"/>
              <a:cs typeface="Space Grotesk" pitchFamily="2" charset="77"/>
            </a:rPr>
            <a:t>                                                             </a:t>
          </a:r>
          <a:endParaRPr lang="en-US" dirty="0"/>
        </a:p>
      </dgm:t>
    </dgm:pt>
    <dgm:pt modelId="{FA2CF8FB-DF0B-944B-A674-3F10478A5023}" type="parTrans" cxnId="{84138617-CADF-EE47-97FE-E25DCB428DD3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D195BF10-676E-AE46-B3B5-2A613DB0CD9C}" type="sibTrans" cxnId="{84138617-CADF-EE47-97FE-E25DCB428DD3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A0BFA0A5-B64D-4348-AD0E-5964B2BE76CC}">
      <dgm:prSet/>
      <dgm:spPr>
        <a:ln>
          <a:solidFill>
            <a:srgbClr val="02BFFF"/>
          </a:solidFill>
        </a:ln>
      </dgm:spPr>
      <dgm:t>
        <a:bodyPr/>
        <a:lstStyle/>
        <a:p>
          <a:pPr>
            <a:lnSpc>
              <a:spcPct val="150000"/>
            </a:lnSpc>
          </a:pPr>
          <a:r>
            <a:rPr lang="en-PE" dirty="0">
              <a:latin typeface="Space Grotesk" pitchFamily="2" charset="77"/>
              <a:cs typeface="Space Grotesk" pitchFamily="2" charset="77"/>
            </a:rPr>
            <a:t>Cantidad de horas/hombre semanales que el equipo de logística ahorra al no tener que consolidar y enviar reportes manuales por correo electrónico. </a:t>
          </a:r>
          <a:r>
            <a:rPr lang="en-PE" i="1" dirty="0">
              <a:latin typeface="Space Grotesk" pitchFamily="2" charset="77"/>
              <a:cs typeface="Space Grotesk" pitchFamily="2" charset="77"/>
            </a:rPr>
            <a:t>(Meta: Reducción del 95% del tiempo administrativo del flujo).</a:t>
          </a:r>
          <a:r>
            <a:rPr lang="en-PE" dirty="0">
              <a:latin typeface="Space Grotesk" pitchFamily="2" charset="77"/>
              <a:cs typeface="Space Grotesk" pitchFamily="2" charset="77"/>
            </a:rPr>
            <a:t>  </a:t>
          </a:r>
        </a:p>
      </dgm:t>
    </dgm:pt>
    <dgm:pt modelId="{AA2047A4-AAE2-0B4D-B7C0-CAC9CDE2A341}" type="parTrans" cxnId="{C066E4ED-072A-EE42-A2E4-17C00E671AAA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07E93116-CE4C-E449-A1CD-17557C51BEDF}" type="sibTrans" cxnId="{C066E4ED-072A-EE42-A2E4-17C00E671AAA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ADEFEF5D-25C4-8B43-809C-11ED2BEDBEF4}" type="pres">
      <dgm:prSet presAssocID="{581EC318-6D35-7240-A2BA-827AE533F590}" presName="linear" presStyleCnt="0">
        <dgm:presLayoutVars>
          <dgm:dir/>
          <dgm:animLvl val="lvl"/>
          <dgm:resizeHandles val="exact"/>
        </dgm:presLayoutVars>
      </dgm:prSet>
      <dgm:spPr/>
    </dgm:pt>
    <dgm:pt modelId="{59D59D44-91C1-6644-8C56-0BBFB558899D}" type="pres">
      <dgm:prSet presAssocID="{955E7C7B-D595-EF45-9268-1041EA3BC5A6}" presName="parentLin" presStyleCnt="0"/>
      <dgm:spPr/>
    </dgm:pt>
    <dgm:pt modelId="{BDF6CA66-13DF-9A49-BC86-83EBB0A47E88}" type="pres">
      <dgm:prSet presAssocID="{955E7C7B-D595-EF45-9268-1041EA3BC5A6}" presName="parentLeftMargin" presStyleLbl="node1" presStyleIdx="0" presStyleCnt="3"/>
      <dgm:spPr/>
    </dgm:pt>
    <dgm:pt modelId="{FD8143EC-77D4-A748-8718-B06B85A8268D}" type="pres">
      <dgm:prSet presAssocID="{955E7C7B-D595-EF45-9268-1041EA3BC5A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D4FC067-5AC7-4441-AE7A-8165FFC30087}" type="pres">
      <dgm:prSet presAssocID="{955E7C7B-D595-EF45-9268-1041EA3BC5A6}" presName="negativeSpace" presStyleCnt="0"/>
      <dgm:spPr/>
    </dgm:pt>
    <dgm:pt modelId="{7E989C53-478A-7143-84D8-773561CE4D06}" type="pres">
      <dgm:prSet presAssocID="{955E7C7B-D595-EF45-9268-1041EA3BC5A6}" presName="childText" presStyleLbl="conFgAcc1" presStyleIdx="0" presStyleCnt="3">
        <dgm:presLayoutVars>
          <dgm:bulletEnabled val="1"/>
        </dgm:presLayoutVars>
      </dgm:prSet>
      <dgm:spPr/>
    </dgm:pt>
    <dgm:pt modelId="{F0AC6F02-7784-3A4E-B354-E647E0323B17}" type="pres">
      <dgm:prSet presAssocID="{8AF09FF3-312E-5E49-8189-14278FE369B2}" presName="spaceBetweenRectangles" presStyleCnt="0"/>
      <dgm:spPr/>
    </dgm:pt>
    <dgm:pt modelId="{6DE172E4-5362-554B-A08F-E0F8897F10EC}" type="pres">
      <dgm:prSet presAssocID="{981A9C3F-7E14-3F49-8CC2-8436EF275880}" presName="parentLin" presStyleCnt="0"/>
      <dgm:spPr/>
    </dgm:pt>
    <dgm:pt modelId="{15792E48-D23A-C744-BA2E-EE465D9DAD1F}" type="pres">
      <dgm:prSet presAssocID="{981A9C3F-7E14-3F49-8CC2-8436EF275880}" presName="parentLeftMargin" presStyleLbl="node1" presStyleIdx="0" presStyleCnt="3"/>
      <dgm:spPr/>
    </dgm:pt>
    <dgm:pt modelId="{A9BD0D52-948B-5C4B-A61D-BB32030ED8A2}" type="pres">
      <dgm:prSet presAssocID="{981A9C3F-7E14-3F49-8CC2-8436EF27588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3498A2E-A3D7-F445-A1B6-27517B8D89DA}" type="pres">
      <dgm:prSet presAssocID="{981A9C3F-7E14-3F49-8CC2-8436EF275880}" presName="negativeSpace" presStyleCnt="0"/>
      <dgm:spPr/>
    </dgm:pt>
    <dgm:pt modelId="{D4CE9FEA-6EA2-B94F-AE5C-5656A4B47573}" type="pres">
      <dgm:prSet presAssocID="{981A9C3F-7E14-3F49-8CC2-8436EF275880}" presName="childText" presStyleLbl="conFgAcc1" presStyleIdx="1" presStyleCnt="3">
        <dgm:presLayoutVars>
          <dgm:bulletEnabled val="1"/>
        </dgm:presLayoutVars>
      </dgm:prSet>
      <dgm:spPr/>
    </dgm:pt>
    <dgm:pt modelId="{2BFF8E65-7D63-0E49-BA81-5236D0B08864}" type="pres">
      <dgm:prSet presAssocID="{B85F8DF8-B5BD-984E-B6C0-2CFCB35F6B9F}" presName="spaceBetweenRectangles" presStyleCnt="0"/>
      <dgm:spPr/>
    </dgm:pt>
    <dgm:pt modelId="{8245031B-3FD6-7B4D-A990-D48A90F29970}" type="pres">
      <dgm:prSet presAssocID="{3827FB96-7A0F-944C-A3F1-1630EFE7315C}" presName="parentLin" presStyleCnt="0"/>
      <dgm:spPr/>
    </dgm:pt>
    <dgm:pt modelId="{0B7DCF5D-EA83-FE43-BB4A-F6A78EADEE5F}" type="pres">
      <dgm:prSet presAssocID="{3827FB96-7A0F-944C-A3F1-1630EFE7315C}" presName="parentLeftMargin" presStyleLbl="node1" presStyleIdx="1" presStyleCnt="3"/>
      <dgm:spPr/>
    </dgm:pt>
    <dgm:pt modelId="{C2D59BF8-7135-D841-8FAF-327739A88E71}" type="pres">
      <dgm:prSet presAssocID="{3827FB96-7A0F-944C-A3F1-1630EFE7315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EE7778E-5269-9D4E-B1A2-1F32C4439799}" type="pres">
      <dgm:prSet presAssocID="{3827FB96-7A0F-944C-A3F1-1630EFE7315C}" presName="negativeSpace" presStyleCnt="0"/>
      <dgm:spPr/>
    </dgm:pt>
    <dgm:pt modelId="{0BFC7608-2DE8-8F40-8234-6CD86C5C8E13}" type="pres">
      <dgm:prSet presAssocID="{3827FB96-7A0F-944C-A3F1-1630EFE7315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4138617-CADF-EE47-97FE-E25DCB428DD3}" srcId="{981A9C3F-7E14-3F49-8CC2-8436EF275880}" destId="{65816ADA-5313-A84A-80B4-95330B3C8058}" srcOrd="0" destOrd="0" parTransId="{FA2CF8FB-DF0B-944B-A674-3F10478A5023}" sibTransId="{D195BF10-676E-AE46-B3B5-2A613DB0CD9C}"/>
    <dgm:cxn modelId="{A277DB21-1135-434E-8D7F-2AD55CE9F218}" srcId="{581EC318-6D35-7240-A2BA-827AE533F590}" destId="{3827FB96-7A0F-944C-A3F1-1630EFE7315C}" srcOrd="2" destOrd="0" parTransId="{E3A52881-DAE8-AD4C-A1AB-76B6BD7A3E1F}" sibTransId="{43DED662-3BDA-3B4A-947B-1E18D8C54D65}"/>
    <dgm:cxn modelId="{0C837E26-F50C-4A41-91E6-13588B4E21C8}" type="presOf" srcId="{581EC318-6D35-7240-A2BA-827AE533F590}" destId="{ADEFEF5D-25C4-8B43-809C-11ED2BEDBEF4}" srcOrd="0" destOrd="0" presId="urn:microsoft.com/office/officeart/2005/8/layout/list1"/>
    <dgm:cxn modelId="{F5880E2B-C159-C945-919B-10BE27CA44CE}" type="presOf" srcId="{BE29D6C1-5E55-F943-A96E-F8B03D34D2E3}" destId="{7E989C53-478A-7143-84D8-773561CE4D06}" srcOrd="0" destOrd="0" presId="urn:microsoft.com/office/officeart/2005/8/layout/list1"/>
    <dgm:cxn modelId="{84852138-7658-4743-A477-6F157E59AB2D}" type="presOf" srcId="{A0BFA0A5-B64D-4348-AD0E-5964B2BE76CC}" destId="{0BFC7608-2DE8-8F40-8234-6CD86C5C8E13}" srcOrd="0" destOrd="0" presId="urn:microsoft.com/office/officeart/2005/8/layout/list1"/>
    <dgm:cxn modelId="{55E5873B-1F71-6C49-8E4B-A01100CE0445}" srcId="{955E7C7B-D595-EF45-9268-1041EA3BC5A6}" destId="{BE29D6C1-5E55-F943-A96E-F8B03D34D2E3}" srcOrd="0" destOrd="0" parTransId="{18AE8AF0-FB52-9F43-B993-F9DA16BF536C}" sibTransId="{E3124271-9EBA-2748-ABB6-83D3C0DA49D2}"/>
    <dgm:cxn modelId="{D5B3F160-892A-3A42-82EA-A23E6BB65374}" type="presOf" srcId="{65816ADA-5313-A84A-80B4-95330B3C8058}" destId="{D4CE9FEA-6EA2-B94F-AE5C-5656A4B47573}" srcOrd="0" destOrd="0" presId="urn:microsoft.com/office/officeart/2005/8/layout/list1"/>
    <dgm:cxn modelId="{ECC47E67-63FB-6245-9F63-5FC56A660489}" type="presOf" srcId="{955E7C7B-D595-EF45-9268-1041EA3BC5A6}" destId="{BDF6CA66-13DF-9A49-BC86-83EBB0A47E88}" srcOrd="0" destOrd="0" presId="urn:microsoft.com/office/officeart/2005/8/layout/list1"/>
    <dgm:cxn modelId="{D9119D6A-AA93-1544-845C-2582EA34FEDA}" type="presOf" srcId="{955E7C7B-D595-EF45-9268-1041EA3BC5A6}" destId="{FD8143EC-77D4-A748-8718-B06B85A8268D}" srcOrd="1" destOrd="0" presId="urn:microsoft.com/office/officeart/2005/8/layout/list1"/>
    <dgm:cxn modelId="{B5AA1A6B-4C3E-C441-9D7B-D3731FAFCEA8}" type="presOf" srcId="{3827FB96-7A0F-944C-A3F1-1630EFE7315C}" destId="{C2D59BF8-7135-D841-8FAF-327739A88E71}" srcOrd="1" destOrd="0" presId="urn:microsoft.com/office/officeart/2005/8/layout/list1"/>
    <dgm:cxn modelId="{3951A483-C658-E24F-9D6F-9989B859176D}" type="presOf" srcId="{981A9C3F-7E14-3F49-8CC2-8436EF275880}" destId="{A9BD0D52-948B-5C4B-A61D-BB32030ED8A2}" srcOrd="1" destOrd="0" presId="urn:microsoft.com/office/officeart/2005/8/layout/list1"/>
    <dgm:cxn modelId="{C5B8EBA4-2579-6843-B6A0-75D2D1E768D3}" type="presOf" srcId="{981A9C3F-7E14-3F49-8CC2-8436EF275880}" destId="{15792E48-D23A-C744-BA2E-EE465D9DAD1F}" srcOrd="0" destOrd="0" presId="urn:microsoft.com/office/officeart/2005/8/layout/list1"/>
    <dgm:cxn modelId="{D01578BA-5FED-8047-86B9-FA9C674853E0}" srcId="{581EC318-6D35-7240-A2BA-827AE533F590}" destId="{981A9C3F-7E14-3F49-8CC2-8436EF275880}" srcOrd="1" destOrd="0" parTransId="{4E92CF14-0700-A746-BACD-798334A68621}" sibTransId="{B85F8DF8-B5BD-984E-B6C0-2CFCB35F6B9F}"/>
    <dgm:cxn modelId="{305C79C6-9DFF-9F41-9AE8-A3301D0518E2}" type="presOf" srcId="{3827FB96-7A0F-944C-A3F1-1630EFE7315C}" destId="{0B7DCF5D-EA83-FE43-BB4A-F6A78EADEE5F}" srcOrd="0" destOrd="0" presId="urn:microsoft.com/office/officeart/2005/8/layout/list1"/>
    <dgm:cxn modelId="{6035E6C6-1335-FB4E-BCA7-AC14C795C9FD}" srcId="{581EC318-6D35-7240-A2BA-827AE533F590}" destId="{955E7C7B-D595-EF45-9268-1041EA3BC5A6}" srcOrd="0" destOrd="0" parTransId="{9F65A075-B55A-2145-8FB2-58101F60BE2B}" sibTransId="{8AF09FF3-312E-5E49-8189-14278FE369B2}"/>
    <dgm:cxn modelId="{C066E4ED-072A-EE42-A2E4-17C00E671AAA}" srcId="{3827FB96-7A0F-944C-A3F1-1630EFE7315C}" destId="{A0BFA0A5-B64D-4348-AD0E-5964B2BE76CC}" srcOrd="0" destOrd="0" parTransId="{AA2047A4-AAE2-0B4D-B7C0-CAC9CDE2A341}" sibTransId="{07E93116-CE4C-E449-A1CD-17557C51BEDF}"/>
    <dgm:cxn modelId="{BC0A1C8F-08F2-CA4C-AA36-D72F7CD1C016}" type="presParOf" srcId="{ADEFEF5D-25C4-8B43-809C-11ED2BEDBEF4}" destId="{59D59D44-91C1-6644-8C56-0BBFB558899D}" srcOrd="0" destOrd="0" presId="urn:microsoft.com/office/officeart/2005/8/layout/list1"/>
    <dgm:cxn modelId="{CBF8DED0-26C1-FE4B-BAC2-E1614BF437CC}" type="presParOf" srcId="{59D59D44-91C1-6644-8C56-0BBFB558899D}" destId="{BDF6CA66-13DF-9A49-BC86-83EBB0A47E88}" srcOrd="0" destOrd="0" presId="urn:microsoft.com/office/officeart/2005/8/layout/list1"/>
    <dgm:cxn modelId="{F49036B6-F103-2D42-A4BD-4E3C0BAE240C}" type="presParOf" srcId="{59D59D44-91C1-6644-8C56-0BBFB558899D}" destId="{FD8143EC-77D4-A748-8718-B06B85A8268D}" srcOrd="1" destOrd="0" presId="urn:microsoft.com/office/officeart/2005/8/layout/list1"/>
    <dgm:cxn modelId="{BA818F09-3269-FB4B-9F9C-7BD09527E540}" type="presParOf" srcId="{ADEFEF5D-25C4-8B43-809C-11ED2BEDBEF4}" destId="{1D4FC067-5AC7-4441-AE7A-8165FFC30087}" srcOrd="1" destOrd="0" presId="urn:microsoft.com/office/officeart/2005/8/layout/list1"/>
    <dgm:cxn modelId="{5A3F9B7F-DA7E-C94D-9622-A12A25D2F4D6}" type="presParOf" srcId="{ADEFEF5D-25C4-8B43-809C-11ED2BEDBEF4}" destId="{7E989C53-478A-7143-84D8-773561CE4D06}" srcOrd="2" destOrd="0" presId="urn:microsoft.com/office/officeart/2005/8/layout/list1"/>
    <dgm:cxn modelId="{D58A376C-0C57-BA4D-AAF3-F3ACF666CFDB}" type="presParOf" srcId="{ADEFEF5D-25C4-8B43-809C-11ED2BEDBEF4}" destId="{F0AC6F02-7784-3A4E-B354-E647E0323B17}" srcOrd="3" destOrd="0" presId="urn:microsoft.com/office/officeart/2005/8/layout/list1"/>
    <dgm:cxn modelId="{99003BB0-F23F-3D48-8655-E7CDE0B29C13}" type="presParOf" srcId="{ADEFEF5D-25C4-8B43-809C-11ED2BEDBEF4}" destId="{6DE172E4-5362-554B-A08F-E0F8897F10EC}" srcOrd="4" destOrd="0" presId="urn:microsoft.com/office/officeart/2005/8/layout/list1"/>
    <dgm:cxn modelId="{85118256-F66A-0145-AFFF-C3086E1F9B14}" type="presParOf" srcId="{6DE172E4-5362-554B-A08F-E0F8897F10EC}" destId="{15792E48-D23A-C744-BA2E-EE465D9DAD1F}" srcOrd="0" destOrd="0" presId="urn:microsoft.com/office/officeart/2005/8/layout/list1"/>
    <dgm:cxn modelId="{4F67EC6C-3F7C-874C-92E3-B6978DBC8417}" type="presParOf" srcId="{6DE172E4-5362-554B-A08F-E0F8897F10EC}" destId="{A9BD0D52-948B-5C4B-A61D-BB32030ED8A2}" srcOrd="1" destOrd="0" presId="urn:microsoft.com/office/officeart/2005/8/layout/list1"/>
    <dgm:cxn modelId="{CA719B1F-894C-BA40-859A-F07BA463882C}" type="presParOf" srcId="{ADEFEF5D-25C4-8B43-809C-11ED2BEDBEF4}" destId="{C3498A2E-A3D7-F445-A1B6-27517B8D89DA}" srcOrd="5" destOrd="0" presId="urn:microsoft.com/office/officeart/2005/8/layout/list1"/>
    <dgm:cxn modelId="{11C489A5-EE97-554C-8726-149E2118EC3B}" type="presParOf" srcId="{ADEFEF5D-25C4-8B43-809C-11ED2BEDBEF4}" destId="{D4CE9FEA-6EA2-B94F-AE5C-5656A4B47573}" srcOrd="6" destOrd="0" presId="urn:microsoft.com/office/officeart/2005/8/layout/list1"/>
    <dgm:cxn modelId="{347910EC-2592-B941-BC36-82EE64E904AC}" type="presParOf" srcId="{ADEFEF5D-25C4-8B43-809C-11ED2BEDBEF4}" destId="{2BFF8E65-7D63-0E49-BA81-5236D0B08864}" srcOrd="7" destOrd="0" presId="urn:microsoft.com/office/officeart/2005/8/layout/list1"/>
    <dgm:cxn modelId="{3B11103B-B491-B349-BC15-62110679068D}" type="presParOf" srcId="{ADEFEF5D-25C4-8B43-809C-11ED2BEDBEF4}" destId="{8245031B-3FD6-7B4D-A990-D48A90F29970}" srcOrd="8" destOrd="0" presId="urn:microsoft.com/office/officeart/2005/8/layout/list1"/>
    <dgm:cxn modelId="{B83EE175-832E-4F4B-916A-E5ADE8B24347}" type="presParOf" srcId="{8245031B-3FD6-7B4D-A990-D48A90F29970}" destId="{0B7DCF5D-EA83-FE43-BB4A-F6A78EADEE5F}" srcOrd="0" destOrd="0" presId="urn:microsoft.com/office/officeart/2005/8/layout/list1"/>
    <dgm:cxn modelId="{797EB942-52A6-BF42-8EAF-67E547291574}" type="presParOf" srcId="{8245031B-3FD6-7B4D-A990-D48A90F29970}" destId="{C2D59BF8-7135-D841-8FAF-327739A88E71}" srcOrd="1" destOrd="0" presId="urn:microsoft.com/office/officeart/2005/8/layout/list1"/>
    <dgm:cxn modelId="{42255738-2420-AD40-84BE-600DF0E1A827}" type="presParOf" srcId="{ADEFEF5D-25C4-8B43-809C-11ED2BEDBEF4}" destId="{FEE7778E-5269-9D4E-B1A2-1F32C4439799}" srcOrd="9" destOrd="0" presId="urn:microsoft.com/office/officeart/2005/8/layout/list1"/>
    <dgm:cxn modelId="{B9A2296C-A204-F44B-AD46-F31258A6C005}" type="presParOf" srcId="{ADEFEF5D-25C4-8B43-809C-11ED2BEDBEF4}" destId="{0BFC7608-2DE8-8F40-8234-6CD86C5C8E1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989C53-478A-7143-84D8-773561CE4D06}">
      <dsp:nvSpPr>
        <dsp:cNvPr id="0" name=""/>
        <dsp:cNvSpPr/>
      </dsp:nvSpPr>
      <dsp:spPr>
        <a:xfrm>
          <a:off x="0" y="256148"/>
          <a:ext cx="8651973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2BF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1489" tIns="270764" rIns="671489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E" sz="1300" kern="1200" dirty="0">
              <a:latin typeface="Space Grotesk" pitchFamily="2" charset="77"/>
              <a:cs typeface="Space Grotesk" pitchFamily="2" charset="77"/>
            </a:rPr>
            <a:t>Número de eventos en los que un material crítico llega a stock cero, deteniendo la operación minera. </a:t>
          </a:r>
          <a:r>
            <a:rPr lang="en-PE" sz="1300" i="1" kern="1200" dirty="0">
              <a:latin typeface="Space Grotesk" pitchFamily="2" charset="77"/>
              <a:cs typeface="Space Grotesk" pitchFamily="2" charset="77"/>
            </a:rPr>
            <a:t>(Meta: Reducir a 0 eventos).</a:t>
          </a:r>
          <a:r>
            <a:rPr lang="en-PE" sz="1300" kern="1200" dirty="0">
              <a:latin typeface="Space Grotesk" pitchFamily="2" charset="77"/>
              <a:cs typeface="Space Grotesk" pitchFamily="2" charset="77"/>
            </a:rPr>
            <a:t>   </a:t>
          </a:r>
          <a:endParaRPr lang="en-US" sz="1300" kern="1200" dirty="0"/>
        </a:p>
      </dsp:txBody>
      <dsp:txXfrm>
        <a:off x="0" y="256148"/>
        <a:ext cx="8651973" cy="982800"/>
      </dsp:txXfrm>
    </dsp:sp>
    <dsp:sp modelId="{FD8143EC-77D4-A748-8718-B06B85A8268D}">
      <dsp:nvSpPr>
        <dsp:cNvPr id="0" name=""/>
        <dsp:cNvSpPr/>
      </dsp:nvSpPr>
      <dsp:spPr>
        <a:xfrm>
          <a:off x="432598" y="64268"/>
          <a:ext cx="6056381" cy="383760"/>
        </a:xfrm>
        <a:prstGeom prst="roundRect">
          <a:avLst/>
        </a:prstGeom>
        <a:solidFill>
          <a:srgbClr val="02BFFF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917" tIns="0" rIns="228917" bIns="0" numCol="1" spcCol="1270" anchor="ctr" anchorCtr="0">
          <a:noAutofit/>
        </a:bodyPr>
        <a:lstStyle/>
        <a:p>
          <a:pPr marL="0" lvl="0" indent="0" algn="l" defTabSz="5778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E" sz="1300" b="1" kern="1200" dirty="0">
              <a:latin typeface="Space Grotesk" pitchFamily="2" charset="77"/>
              <a:cs typeface="Space Grotesk" pitchFamily="2" charset="77"/>
            </a:rPr>
            <a:t>1. Reducción de Paradas por Desabastecimiento (Stockouts):</a:t>
          </a:r>
          <a:endParaRPr lang="en-US" sz="1300" kern="1200" dirty="0"/>
        </a:p>
      </dsp:txBody>
      <dsp:txXfrm>
        <a:off x="451332" y="83002"/>
        <a:ext cx="6018913" cy="346292"/>
      </dsp:txXfrm>
    </dsp:sp>
    <dsp:sp modelId="{D4CE9FEA-6EA2-B94F-AE5C-5656A4B47573}">
      <dsp:nvSpPr>
        <dsp:cNvPr id="0" name=""/>
        <dsp:cNvSpPr/>
      </dsp:nvSpPr>
      <dsp:spPr>
        <a:xfrm>
          <a:off x="0" y="1501028"/>
          <a:ext cx="8651973" cy="1289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2BF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1489" tIns="270764" rIns="671489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E" sz="1300" kern="1200" dirty="0">
              <a:latin typeface="Space Grotesk" pitchFamily="2" charset="77"/>
              <a:cs typeface="Space Grotesk" pitchFamily="2" charset="77"/>
            </a:rPr>
            <a:t>Tiempo transcurrido desde que el stock cae por debajo del mínimo de seguridad hasta que el proveedor repone físicamente el material en mina. </a:t>
          </a:r>
          <a:r>
            <a:rPr lang="en-PE" sz="1300" i="1" kern="1200" dirty="0">
              <a:latin typeface="Space Grotesk" pitchFamily="2" charset="77"/>
              <a:cs typeface="Space Grotesk" pitchFamily="2" charset="77"/>
            </a:rPr>
            <a:t>(Meta: Reducción del 40% respecto al proceso manual).</a:t>
          </a:r>
          <a:r>
            <a:rPr lang="en-PE" sz="1300" kern="1200" dirty="0">
              <a:latin typeface="Space Grotesk" pitchFamily="2" charset="77"/>
              <a:cs typeface="Space Grotesk" pitchFamily="2" charset="77"/>
            </a:rPr>
            <a:t>                                                             </a:t>
          </a:r>
          <a:endParaRPr lang="en-US" sz="1300" kern="1200" dirty="0"/>
        </a:p>
      </dsp:txBody>
      <dsp:txXfrm>
        <a:off x="0" y="1501028"/>
        <a:ext cx="8651973" cy="1289925"/>
      </dsp:txXfrm>
    </dsp:sp>
    <dsp:sp modelId="{A9BD0D52-948B-5C4B-A61D-BB32030ED8A2}">
      <dsp:nvSpPr>
        <dsp:cNvPr id="0" name=""/>
        <dsp:cNvSpPr/>
      </dsp:nvSpPr>
      <dsp:spPr>
        <a:xfrm>
          <a:off x="432598" y="1309148"/>
          <a:ext cx="6056381" cy="383760"/>
        </a:xfrm>
        <a:prstGeom prst="roundRect">
          <a:avLst/>
        </a:prstGeom>
        <a:solidFill>
          <a:srgbClr val="02BFFF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917" tIns="0" rIns="228917" bIns="0" numCol="1" spcCol="1270" anchor="ctr" anchorCtr="0">
          <a:noAutofit/>
        </a:bodyPr>
        <a:lstStyle/>
        <a:p>
          <a:pPr marL="0" lvl="0" indent="0" algn="l" defTabSz="5778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E" sz="1300" b="1" kern="1200" dirty="0">
              <a:latin typeface="Space Grotesk" pitchFamily="2" charset="77"/>
              <a:cs typeface="Space Grotesk" pitchFamily="2" charset="77"/>
            </a:rPr>
            <a:t>2. Tiempo de Respuesta del Proveedor (Lead Time):</a:t>
          </a:r>
          <a:endParaRPr lang="en-US" sz="1300" kern="1200" dirty="0"/>
        </a:p>
      </dsp:txBody>
      <dsp:txXfrm>
        <a:off x="451332" y="1327882"/>
        <a:ext cx="6018913" cy="346292"/>
      </dsp:txXfrm>
    </dsp:sp>
    <dsp:sp modelId="{0BFC7608-2DE8-8F40-8234-6CD86C5C8E13}">
      <dsp:nvSpPr>
        <dsp:cNvPr id="0" name=""/>
        <dsp:cNvSpPr/>
      </dsp:nvSpPr>
      <dsp:spPr>
        <a:xfrm>
          <a:off x="0" y="3053034"/>
          <a:ext cx="8651973" cy="1289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2BF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1489" tIns="270764" rIns="671489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E" sz="1300" kern="1200" dirty="0">
              <a:latin typeface="Space Grotesk" pitchFamily="2" charset="77"/>
              <a:cs typeface="Space Grotesk" pitchFamily="2" charset="77"/>
            </a:rPr>
            <a:t>Cantidad de horas/hombre semanales que el equipo de logística ahorra al no tener que consolidar y enviar reportes manuales por correo electrónico. </a:t>
          </a:r>
          <a:r>
            <a:rPr lang="en-PE" sz="1300" i="1" kern="1200" dirty="0">
              <a:latin typeface="Space Grotesk" pitchFamily="2" charset="77"/>
              <a:cs typeface="Space Grotesk" pitchFamily="2" charset="77"/>
            </a:rPr>
            <a:t>(Meta: Reducción del 95% del tiempo administrativo del flujo).</a:t>
          </a:r>
          <a:r>
            <a:rPr lang="en-PE" sz="1300" kern="1200" dirty="0">
              <a:latin typeface="Space Grotesk" pitchFamily="2" charset="77"/>
              <a:cs typeface="Space Grotesk" pitchFamily="2" charset="77"/>
            </a:rPr>
            <a:t>  </a:t>
          </a:r>
        </a:p>
      </dsp:txBody>
      <dsp:txXfrm>
        <a:off x="0" y="3053034"/>
        <a:ext cx="8651973" cy="1289925"/>
      </dsp:txXfrm>
    </dsp:sp>
    <dsp:sp modelId="{C2D59BF8-7135-D841-8FAF-327739A88E71}">
      <dsp:nvSpPr>
        <dsp:cNvPr id="0" name=""/>
        <dsp:cNvSpPr/>
      </dsp:nvSpPr>
      <dsp:spPr>
        <a:xfrm>
          <a:off x="432598" y="2861154"/>
          <a:ext cx="6056381" cy="383760"/>
        </a:xfrm>
        <a:prstGeom prst="roundRect">
          <a:avLst/>
        </a:prstGeom>
        <a:solidFill>
          <a:srgbClr val="02BFFF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917" tIns="0" rIns="228917" bIns="0" numCol="1" spcCol="1270" anchor="ctr" anchorCtr="0">
          <a:noAutofit/>
        </a:bodyPr>
        <a:lstStyle/>
        <a:p>
          <a:pPr marL="0" lvl="0" indent="0" algn="l" defTabSz="5778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E" sz="1300" b="1" kern="1200" dirty="0">
              <a:latin typeface="Space Grotesk" pitchFamily="2" charset="77"/>
              <a:cs typeface="Space Grotesk" pitchFamily="2" charset="77"/>
            </a:rPr>
            <a:t>3. Eficiencia Administrativa (Horas Ahorradas):</a:t>
          </a:r>
          <a:endParaRPr lang="en-PE" sz="1300" kern="1200" dirty="0">
            <a:latin typeface="Space Grotesk" pitchFamily="2" charset="77"/>
            <a:cs typeface="Space Grotesk" pitchFamily="2" charset="77"/>
          </a:endParaRPr>
        </a:p>
      </dsp:txBody>
      <dsp:txXfrm>
        <a:off x="451332" y="2879888"/>
        <a:ext cx="6018913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Space Grotesk" pitchFamily="2" charset="77"/>
        <a:ea typeface="Space Grotesk" pitchFamily="2" charset="77"/>
        <a:cs typeface="Space Grotesk" pitchFamily="2" charset="77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77D757E-6A79-0324-A8AB-3079642B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8B850CB4-35B2-39BE-5E67-0293FDF57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B49DA5A5-8EA9-48A8-C51C-6C7FDF454E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683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32d191d51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32d191d51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576DDAE7-EB12-ECEA-AB06-164038F8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>
            <a:extLst>
              <a:ext uri="{FF2B5EF4-FFF2-40B4-BE49-F238E27FC236}">
                <a16:creationId xmlns:a16="http://schemas.microsoft.com/office/drawing/2014/main" id="{5DAF25B6-1D50-D998-29E6-03E39417F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PE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194" name="Google Shape;194;p11:notes">
            <a:extLst>
              <a:ext uri="{FF2B5EF4-FFF2-40B4-BE49-F238E27FC236}">
                <a16:creationId xmlns:a16="http://schemas.microsoft.com/office/drawing/2014/main" id="{715DF928-9BFF-A4D6-EFC0-FA0F93685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0220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D7C9B651-C125-7CA6-F182-C966B7AF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345B28B1-39B1-176F-5061-E913A67C8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4D1874FD-3851-C93F-5E0A-5C4482D348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9539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0E286FE-B3C3-E865-5864-358C95BA1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B107DD3E-9FA9-C677-FDE5-F224FD516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13CFCE25-0B47-DE5A-56C4-172BC2369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pace Grotesk" pitchFamily="2" charset="77"/>
                <a:cs typeface="Space Grotesk" pitchFamily="2" charset="77"/>
              </a:rPr>
              <a:t>ADSL: Azure Data Lake Storage</a:t>
            </a: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7780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86C28A7-6F20-0050-F21D-8DE8C7C8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CEE51B28-32F6-912D-A605-95372CC13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0F025579-A3A9-B2D4-9BDE-9F274AD37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86605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F8961964-0DB3-B77B-0B0D-2BF1DD988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239817BE-92BD-1FDD-6EC7-A668A26A5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DD206BE2-C07C-2F92-F844-ED4C809AD1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72479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19C9DD8-D1B2-0D75-34CF-35D9ADF0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7EB25C6B-B5F9-EB5C-81C0-F50E2BD4F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88D73C59-522A-4B46-BB67-A5325040D7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86660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899B7C4-299B-3FE2-F61A-B3D728CEA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D4391536-A98B-FAD6-A2B5-54E72F757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03398780-ACC3-C6DF-02E3-33EAA9C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636262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B19CA93-C685-2253-7586-58F148BA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9C242EB5-E9B6-1221-D637-5C8C84665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D396722A-DD95-ED82-0176-A9C3DF956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18178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E24E620-22CB-5DAE-06F7-A7EF97E0D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D7B94E28-B637-7535-DE8F-45707150DA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EC9D1CAF-CE58-113A-613F-B11514AC4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30125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A777F77-5CA0-8558-BAD6-C8A800EB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A033C272-A140-6D62-0AD6-E9E6DEF1EC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F67DF7BC-D7E2-0BC2-5B1F-C2DE7620A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30909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F0FDF7D-E1CC-D3C0-6E1C-B5A6D872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25B6778D-F0C6-D2D1-35A7-6DB34AC35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3E020E8F-CEBE-3DA3-B940-F439D87A59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8154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 type="tx">
  <p:cSld name="Títul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‹#›</a:t>
            </a:fld>
            <a:endParaRPr lang="es-PE"/>
          </a:p>
        </p:txBody>
      </p:sp>
      <p:sp>
        <p:nvSpPr>
          <p:cNvPr id="21" name="Google Shape;21;p4"/>
          <p:cNvSpPr/>
          <p:nvPr/>
        </p:nvSpPr>
        <p:spPr>
          <a:xfrm>
            <a:off x="-137067" y="-66700"/>
            <a:ext cx="12470000" cy="7102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dirty="0">
              <a:latin typeface="Space Grotesk" pitchFamily="2" charset="77"/>
              <a:cs typeface="Space Grotesk" pitchFamily="2" charset="77"/>
            </a:endParaRPr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32000"/>
          </a:blip>
          <a:srcRect r="1117" b="15504"/>
          <a:stretch/>
        </p:blipFill>
        <p:spPr>
          <a:xfrm>
            <a:off x="-139000" y="-79466"/>
            <a:ext cx="12469999" cy="71070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4"/>
          <p:cNvGrpSpPr/>
          <p:nvPr/>
        </p:nvGrpSpPr>
        <p:grpSpPr>
          <a:xfrm>
            <a:off x="529717" y="480467"/>
            <a:ext cx="11136416" cy="533533"/>
            <a:chOff x="314313" y="360350"/>
            <a:chExt cx="8352312" cy="400150"/>
          </a:xfrm>
        </p:grpSpPr>
        <p:pic>
          <p:nvPicPr>
            <p:cNvPr id="24" name="Google Shape;24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" name="Google Shape;2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48099" y="5870934"/>
            <a:ext cx="510800" cy="540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552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‹#›</a:t>
            </a:fld>
            <a:endParaRPr lang="es-PE"/>
          </a:p>
        </p:txBody>
      </p:sp>
      <p:sp>
        <p:nvSpPr>
          <p:cNvPr id="36" name="Google Shape;36;p6"/>
          <p:cNvSpPr/>
          <p:nvPr/>
        </p:nvSpPr>
        <p:spPr>
          <a:xfrm>
            <a:off x="-139000" y="-95700"/>
            <a:ext cx="12470000" cy="712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dirty="0">
              <a:latin typeface="Space Grotesk" pitchFamily="2" charset="77"/>
              <a:cs typeface="Space Grotesk" pitchFamily="2" charset="77"/>
            </a:endParaRPr>
          </a:p>
        </p:txBody>
      </p:sp>
      <p:grpSp>
        <p:nvGrpSpPr>
          <p:cNvPr id="37" name="Google Shape;37;p6"/>
          <p:cNvGrpSpPr/>
          <p:nvPr/>
        </p:nvGrpSpPr>
        <p:grpSpPr>
          <a:xfrm>
            <a:off x="527734" y="480467"/>
            <a:ext cx="11136535" cy="533533"/>
            <a:chOff x="314225" y="360350"/>
            <a:chExt cx="8352401" cy="400150"/>
          </a:xfrm>
        </p:grpSpPr>
        <p:pic>
          <p:nvPicPr>
            <p:cNvPr id="38" name="Google Shape;38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393325" y="360350"/>
              <a:ext cx="1273301" cy="40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225" y="409100"/>
              <a:ext cx="1573350" cy="30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" name="Google Shape;4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51497" y="5896630"/>
            <a:ext cx="504017" cy="533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551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B4C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82F38B15-E2E5-BE18-90E8-A5711514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4">
            <a:extLst>
              <a:ext uri="{FF2B5EF4-FFF2-40B4-BE49-F238E27FC236}">
                <a16:creationId xmlns:a16="http://schemas.microsoft.com/office/drawing/2014/main" id="{6861DA70-8DA1-8805-2A00-0313D0EAA7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81" y="2800019"/>
            <a:ext cx="5192637" cy="12579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341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/>
        </p:nvSpPr>
        <p:spPr>
          <a:xfrm>
            <a:off x="855267" y="2317784"/>
            <a:ext cx="2120800" cy="6088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s" sz="2667" dirty="0">
                <a:solidFill>
                  <a:srgbClr val="4E4B4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CURSO</a:t>
            </a:r>
            <a:endParaRPr sz="2667" dirty="0">
              <a:solidFill>
                <a:srgbClr val="4E4B4C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6" name="Google Shape;56;p10"/>
          <p:cNvSpPr txBox="1"/>
          <p:nvPr/>
        </p:nvSpPr>
        <p:spPr>
          <a:xfrm>
            <a:off x="703599" y="3234667"/>
            <a:ext cx="6880541" cy="2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80000"/>
              </a:lnSpc>
              <a:buClr>
                <a:schemeClr val="dk1"/>
              </a:buClr>
              <a:buSzPts val="1100"/>
            </a:pPr>
            <a:r>
              <a:rPr lang="es" sz="7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INGENIERÍA DE</a:t>
            </a:r>
            <a:endParaRPr sz="7600" dirty="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s" sz="76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DATOS</a:t>
            </a:r>
            <a:endParaRPr sz="7600" dirty="0"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7" name="Google Shape;5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8099" y="5870934"/>
            <a:ext cx="510800" cy="5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>
                <a:solidFill>
                  <a:schemeClr val="lt1"/>
                </a:solidFill>
              </a:rPr>
              <a:pPr/>
              <a:t>2</a:t>
            </a:fld>
            <a:endParaRPr dirty="0">
              <a:solidFill>
                <a:schemeClr val="lt1"/>
              </a:solidFill>
            </a:endParaRPr>
          </a:p>
        </p:txBody>
      </p:sp>
      <p:sp>
        <p:nvSpPr>
          <p:cNvPr id="4" name="Google Shape;128;p5">
            <a:extLst>
              <a:ext uri="{FF2B5EF4-FFF2-40B4-BE49-F238E27FC236}">
                <a16:creationId xmlns:a16="http://schemas.microsoft.com/office/drawing/2014/main" id="{47DDB4F3-D121-5BC0-B13D-7F3CFF0B666F}"/>
              </a:ext>
            </a:extLst>
          </p:cNvPr>
          <p:cNvSpPr txBox="1"/>
          <p:nvPr/>
        </p:nvSpPr>
        <p:spPr>
          <a:xfrm>
            <a:off x="810387" y="5683228"/>
            <a:ext cx="833361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r>
              <a:rPr lang="en-US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David Jimenez, Herles Pinedo, Jose </a:t>
            </a:r>
            <a:r>
              <a:rPr lang="en-US" sz="16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Nomberto</a:t>
            </a:r>
            <a:r>
              <a:rPr lang="en-US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Kevin Luyo, Yessenia Chirinos </a:t>
            </a:r>
            <a:endParaRPr sz="1400" u="none" strike="noStrike" cap="none" dirty="0">
              <a:solidFill>
                <a:srgbClr val="000000"/>
              </a:solidFill>
              <a:latin typeface="Space Grotesk" pitchFamily="2" charset="77"/>
              <a:cs typeface="Space Grotesk" pitchFamily="2" charset="77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B4C"/>
        </a:solidFill>
        <a:effectLst/>
      </p:bgPr>
    </p:bg>
    <p:spTree>
      <p:nvGrpSpPr>
        <p:cNvPr id="1" name="Shape 195">
          <a:extLst>
            <a:ext uri="{FF2B5EF4-FFF2-40B4-BE49-F238E27FC236}">
              <a16:creationId xmlns:a16="http://schemas.microsoft.com/office/drawing/2014/main" id="{794F31AF-A429-388D-6507-851518FB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1">
            <a:extLst>
              <a:ext uri="{FF2B5EF4-FFF2-40B4-BE49-F238E27FC236}">
                <a16:creationId xmlns:a16="http://schemas.microsoft.com/office/drawing/2014/main" id="{2F8D558E-9118-C52C-59DE-CD1ED00077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3316" y="521765"/>
            <a:ext cx="504610" cy="53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1" descr="Una caricatura de un hombre&#10;&#10;Descripción generada automáticamente con confianza media">
            <a:extLst>
              <a:ext uri="{FF2B5EF4-FFF2-40B4-BE49-F238E27FC236}">
                <a16:creationId xmlns:a16="http://schemas.microsoft.com/office/drawing/2014/main" id="{8CE0917E-D720-9C7F-4B94-F32C87EA12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" t="27533" r="358" b="17895"/>
          <a:stretch/>
        </p:blipFill>
        <p:spPr>
          <a:xfrm>
            <a:off x="692273" y="1360714"/>
            <a:ext cx="10411156" cy="355962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>
            <a:extLst>
              <a:ext uri="{FF2B5EF4-FFF2-40B4-BE49-F238E27FC236}">
                <a16:creationId xmlns:a16="http://schemas.microsoft.com/office/drawing/2014/main" id="{545C4CB6-536F-F344-99B0-51FB25E2CA70}"/>
              </a:ext>
            </a:extLst>
          </p:cNvPr>
          <p:cNvSpPr txBox="1"/>
          <p:nvPr/>
        </p:nvSpPr>
        <p:spPr>
          <a:xfrm>
            <a:off x="1088570" y="4361044"/>
            <a:ext cx="1110343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PE" sz="5400" dirty="0">
                <a:solidFill>
                  <a:schemeClr val="lt1"/>
                </a:solidFill>
                <a:latin typeface="Space Grotesk" pitchFamily="2" charset="77"/>
                <a:cs typeface="Space Grotesk" pitchFamily="2" charset="77"/>
              </a:rPr>
              <a:t>RUBRO:</a:t>
            </a:r>
            <a:endParaRPr lang="es-PE" sz="5400" u="none" strike="noStrike" cap="none" dirty="0">
              <a:solidFill>
                <a:schemeClr val="lt1"/>
              </a:solidFill>
              <a:latin typeface="Space Grotesk" pitchFamily="2" charset="77"/>
              <a:cs typeface="Space Grotesk" pitchFamily="2" charset="7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PE" sz="5400" dirty="0">
                <a:solidFill>
                  <a:srgbClr val="00E1FF"/>
                </a:solidFill>
                <a:latin typeface="Space Grotesk" pitchFamily="2" charset="77"/>
                <a:cs typeface="Space Grotesk" pitchFamily="2" charset="77"/>
              </a:rPr>
              <a:t>MINERIA</a:t>
            </a:r>
            <a:endParaRPr lang="es-PE" sz="1400" u="none" strike="noStrike" cap="none" dirty="0">
              <a:solidFill>
                <a:srgbClr val="000000"/>
              </a:solidFill>
              <a:latin typeface="Space Grotesk" pitchFamily="2" charset="77"/>
              <a:cs typeface="Space Grotesk" pitchFamily="2" charset="77"/>
              <a:sym typeface="Arial"/>
            </a:endParaRPr>
          </a:p>
        </p:txBody>
      </p:sp>
      <p:pic>
        <p:nvPicPr>
          <p:cNvPr id="199" name="Google Shape;199;p11">
            <a:extLst>
              <a:ext uri="{FF2B5EF4-FFF2-40B4-BE49-F238E27FC236}">
                <a16:creationId xmlns:a16="http://schemas.microsoft.com/office/drawing/2014/main" id="{A9362D80-E2E9-9140-B244-6B9BB4E68D5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713" y="369734"/>
            <a:ext cx="2892659" cy="7007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827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CFE90B5-739F-6347-316F-189A32D2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288405A1-B28B-EF45-8B98-2F50F29A64A2}"/>
              </a:ext>
            </a:extLst>
          </p:cNvPr>
          <p:cNvSpPr txBox="1"/>
          <p:nvPr/>
        </p:nvSpPr>
        <p:spPr>
          <a:xfrm>
            <a:off x="529588" y="1200148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Introducción y problema del negocio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81B85CBF-10D4-6AC5-A700-39557B61A2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4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B3595490-B4F4-0649-D830-37722C90AEB4}"/>
              </a:ext>
            </a:extLst>
          </p:cNvPr>
          <p:cNvSpPr txBox="1"/>
          <p:nvPr/>
        </p:nvSpPr>
        <p:spPr>
          <a:xfrm>
            <a:off x="650757" y="1836101"/>
            <a:ext cx="10890487" cy="4570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800" dirty="0">
                <a:latin typeface="Space Grotesk" pitchFamily="2" charset="77"/>
                <a:cs typeface="Space Grotesk" pitchFamily="2" charset="77"/>
              </a:rPr>
              <a:t>Contexto del dominio.</a:t>
            </a:r>
          </a:p>
          <a:p>
            <a:pPr marL="360363" lvl="4" algn="just"/>
            <a:r>
              <a:rPr lang="es-ES" sz="1500" dirty="0">
                <a:latin typeface="Space Grotesk" pitchFamily="2" charset="77"/>
                <a:cs typeface="Space Grotesk" pitchFamily="2" charset="77"/>
              </a:rPr>
              <a:t>El proyecto se sitúa en el área de gestión de inventarios, específicamente en el manejo de </a:t>
            </a:r>
            <a:r>
              <a:rPr lang="es-ES" sz="1500" dirty="0">
                <a:solidFill>
                  <a:srgbClr val="02BFFF"/>
                </a:solidFill>
                <a:latin typeface="Space Grotesk" pitchFamily="2" charset="77"/>
                <a:cs typeface="Space Grotesk" pitchFamily="2" charset="77"/>
              </a:rPr>
              <a:t>materiales en consignación </a:t>
            </a:r>
            <a:r>
              <a:rPr lang="es-ES" sz="1500" dirty="0">
                <a:latin typeface="Space Grotesk" pitchFamily="2" charset="77"/>
                <a:cs typeface="Space Grotesk" pitchFamily="2" charset="77"/>
              </a:rPr>
              <a:t>dentro de un almacén.</a:t>
            </a:r>
          </a:p>
          <a:p>
            <a:pPr marL="360363" lvl="4" algn="just"/>
            <a:r>
              <a:rPr lang="es-ES" sz="1500" dirty="0">
                <a:latin typeface="Space Grotesk" pitchFamily="2" charset="77"/>
                <a:cs typeface="Space Grotesk" pitchFamily="2" charset="77"/>
              </a:rPr>
              <a:t>Los proveedores de consignación entregan productos que siguen siendo de ellos hasta que la empresa los consume. Por eso, necesitan visibilidad total de los movimientos: ingresos, salidas, devoluciones, ajustes.</a:t>
            </a:r>
          </a:p>
          <a:p>
            <a:pPr lvl="4" algn="just"/>
            <a:endParaRPr lang="es-PE" dirty="0">
              <a:latin typeface="Space Grotesk" pitchFamily="2" charset="77"/>
              <a:cs typeface="Space Grotesk" pitchFamily="2" charset="77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800" dirty="0">
                <a:latin typeface="Space Grotesk" pitchFamily="2" charset="77"/>
                <a:cs typeface="Space Grotesk" pitchFamily="2" charset="77"/>
              </a:rPr>
              <a:t>¿Qué problema quieren resolver?</a:t>
            </a:r>
          </a:p>
          <a:p>
            <a:pPr marL="360363" algn="just"/>
            <a:r>
              <a:rPr lang="es-ES" sz="1500" dirty="0">
                <a:solidFill>
                  <a:schemeClr val="accent1">
                    <a:lumMod val="75000"/>
                  </a:schemeClr>
                </a:solidFill>
                <a:latin typeface="Space Grotesk" pitchFamily="2" charset="77"/>
                <a:cs typeface="Space Grotesk" pitchFamily="2" charset="77"/>
              </a:rPr>
              <a:t>Los proveedores de consignación no tienen visibilidad oportuna de los movimientos de inventario (ingresos, despachos, devoluciones). Esto genera retrasos, discrepancias y falta de confianza en el control del stock.</a:t>
            </a:r>
          </a:p>
          <a:p>
            <a:pPr algn="just"/>
            <a:endParaRPr lang="es-PE" dirty="0">
              <a:solidFill>
                <a:srgbClr val="0070C0"/>
              </a:solidFill>
              <a:latin typeface="Space Grotesk" pitchFamily="2" charset="77"/>
              <a:cs typeface="Space Grotesk" pitchFamily="2" charset="77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800" dirty="0">
                <a:latin typeface="Space Grotesk" pitchFamily="2" charset="77"/>
                <a:cs typeface="Space Grotesk" pitchFamily="2" charset="77"/>
              </a:rPr>
              <a:t>¿Por qué importa automatizar esta carga?</a:t>
            </a:r>
          </a:p>
          <a:p>
            <a:pPr marL="669925" lvl="3" indent="-327025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PE" sz="1500" dirty="0">
                <a:latin typeface="Space Grotesk" pitchFamily="2" charset="77"/>
                <a:cs typeface="Space Grotesk" pitchFamily="2" charset="77"/>
              </a:rPr>
              <a:t>Garantiza que los proveedores tengan información actualizada.</a:t>
            </a:r>
          </a:p>
          <a:p>
            <a:pPr marL="669925" lvl="3" indent="-327025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PE" sz="1500" dirty="0">
                <a:latin typeface="Space Grotesk" pitchFamily="2" charset="77"/>
                <a:cs typeface="Space Grotesk" pitchFamily="2" charset="77"/>
              </a:rPr>
              <a:t>Permite escalar.</a:t>
            </a:r>
          </a:p>
          <a:p>
            <a:pPr marL="669925" lvl="3" indent="-327025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PE" sz="1500" dirty="0">
                <a:latin typeface="Space Grotesk" pitchFamily="2" charset="77"/>
                <a:cs typeface="Space Grotesk" pitchFamily="2" charset="77"/>
              </a:rPr>
              <a:t>Asegura trazabilidad y auditoría.</a:t>
            </a:r>
          </a:p>
          <a:p>
            <a:pPr marL="669925" lvl="3" indent="-327025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PE" sz="1500" dirty="0">
                <a:latin typeface="Space Grotesk" pitchFamily="2" charset="77"/>
                <a:cs typeface="Space Grotesk" pitchFamily="2" charset="77"/>
              </a:rPr>
              <a:t>Prepara el camino para analítica avanzada (</a:t>
            </a:r>
            <a:r>
              <a:rPr lang="en-PE" sz="1500" dirty="0">
                <a:latin typeface="Space Grotesk" pitchFamily="2" charset="77"/>
                <a:cs typeface="Space Grotesk" pitchFamily="2" charset="77"/>
              </a:rPr>
              <a:t>reposiciones automáticas, eliminar el desabastecimient</a:t>
            </a:r>
            <a:r>
              <a:rPr lang="es-PE" sz="1500" dirty="0">
                <a:latin typeface="Space Grotesk" pitchFamily="2" charset="77"/>
                <a:cs typeface="Space Grotesk" pitchFamily="2" charset="77"/>
              </a:rPr>
              <a:t>o)</a:t>
            </a:r>
          </a:p>
        </p:txBody>
      </p:sp>
    </p:spTree>
    <p:extLst>
      <p:ext uri="{BB962C8B-B14F-4D97-AF65-F5344CB8AC3E}">
        <p14:creationId xmlns:p14="http://schemas.microsoft.com/office/powerpoint/2010/main" val="2226367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76939AB-4698-CB48-8F4B-F7CAEB670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2712735A-359A-CD61-7878-7B044835FAFD}"/>
              </a:ext>
            </a:extLst>
          </p:cNvPr>
          <p:cNvSpPr txBox="1"/>
          <p:nvPr/>
        </p:nvSpPr>
        <p:spPr>
          <a:xfrm>
            <a:off x="738384" y="1330491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 del avance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3ED15F0E-3519-FF64-5942-C10604A396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5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BE365190-58B5-DDA8-44A0-9BBB78220DB2}"/>
              </a:ext>
            </a:extLst>
          </p:cNvPr>
          <p:cNvSpPr txBox="1"/>
          <p:nvPr/>
        </p:nvSpPr>
        <p:spPr>
          <a:xfrm>
            <a:off x="738383" y="1939583"/>
            <a:ext cx="10101251" cy="427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E" sz="2000" dirty="0">
                <a:latin typeface="Space Grotesk" pitchFamily="2" charset="77"/>
                <a:cs typeface="Space Grotesk" pitchFamily="2" charset="77"/>
              </a:rPr>
              <a:t>¿</a:t>
            </a:r>
            <a:r>
              <a:rPr lang="es-PE" sz="2000" dirty="0">
                <a:latin typeface="Space Grotesk" pitchFamily="2" charset="77"/>
                <a:cs typeface="Space Grotesk" pitchFamily="2" charset="77"/>
              </a:rPr>
              <a:t>Qué se busca lograr en esta primera entrega?</a:t>
            </a:r>
          </a:p>
          <a:p>
            <a:pPr marL="669925" indent="-32702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PE" dirty="0">
                <a:latin typeface="Space Grotesk" pitchFamily="2" charset="77"/>
                <a:cs typeface="Space Grotesk" pitchFamily="2" charset="77"/>
              </a:rPr>
              <a:t>Construir un pipeline de ingesta funcional usando Apache </a:t>
            </a:r>
            <a:r>
              <a:rPr lang="es-PE" dirty="0" err="1">
                <a:latin typeface="Space Grotesk" pitchFamily="2" charset="77"/>
                <a:cs typeface="Space Grotesk" pitchFamily="2" charset="77"/>
              </a:rPr>
              <a:t>Airflow</a:t>
            </a:r>
            <a:r>
              <a:rPr lang="es-PE" dirty="0">
                <a:latin typeface="Space Grotesk" pitchFamily="2" charset="77"/>
                <a:cs typeface="Space Grotesk" pitchFamily="2" charset="77"/>
              </a:rPr>
              <a:t>.</a:t>
            </a:r>
          </a:p>
          <a:p>
            <a:pPr marL="669925" indent="-32702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ES" dirty="0">
                <a:latin typeface="Space Grotesk" pitchFamily="2" charset="77"/>
                <a:cs typeface="Space Grotesk" pitchFamily="2" charset="77"/>
              </a:rPr>
              <a:t>Automatizar la carga de archivos SAP desde un servidor local simulado.</a:t>
            </a:r>
            <a:endParaRPr lang="es-PE" dirty="0">
              <a:latin typeface="Space Grotesk" pitchFamily="2" charset="77"/>
              <a:cs typeface="Space Grotesk" pitchFamily="2" charset="77"/>
            </a:endParaRPr>
          </a:p>
          <a:p>
            <a:pPr marL="669925" indent="-32702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PE" dirty="0">
                <a:latin typeface="Space Grotesk" pitchFamily="2" charset="77"/>
                <a:cs typeface="Space Grotesk" pitchFamily="2" charset="77"/>
              </a:rPr>
              <a:t>Orquestar el proceso con Apache </a:t>
            </a:r>
            <a:r>
              <a:rPr lang="es-PE" dirty="0" err="1">
                <a:latin typeface="Space Grotesk" pitchFamily="2" charset="77"/>
                <a:cs typeface="Space Grotesk" pitchFamily="2" charset="77"/>
              </a:rPr>
              <a:t>Airflow</a:t>
            </a:r>
            <a:r>
              <a:rPr lang="es-PE" dirty="0">
                <a:latin typeface="Space Grotesk" pitchFamily="2" charset="77"/>
                <a:cs typeface="Space Grotesk" pitchFamily="2" charset="77"/>
              </a:rPr>
              <a:t>, asegurando dependencias, logs y reintentos.</a:t>
            </a:r>
          </a:p>
          <a:p>
            <a:pPr marL="669925" indent="-32702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PE" dirty="0">
                <a:latin typeface="Space Grotesk" pitchFamily="2" charset="77"/>
                <a:cs typeface="Space Grotesk" pitchFamily="2" charset="77"/>
              </a:rPr>
              <a:t>Cargar los archivos sin modificar en un contenedor Raw dentro de Azure Data Lake Storage Gen2.</a:t>
            </a:r>
          </a:p>
          <a:p>
            <a:pPr marL="669925" indent="-32702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PE" dirty="0">
                <a:latin typeface="Space Grotesk" pitchFamily="2" charset="77"/>
                <a:cs typeface="Space Grotesk" pitchFamily="2" charset="77"/>
              </a:rPr>
              <a:t>Subir el DAG y estructura del proyecto a Github, usando ramas y Gitflow.</a:t>
            </a:r>
          </a:p>
          <a:p>
            <a:pPr>
              <a:lnSpc>
                <a:spcPct val="150000"/>
              </a:lnSpc>
            </a:pPr>
            <a:endParaRPr lang="es-PE" dirty="0">
              <a:latin typeface="Space Grotesk" pitchFamily="2" charset="77"/>
              <a:cs typeface="Space Grotesk" pitchFamily="2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E" sz="2000" dirty="0">
                <a:latin typeface="Space Grotesk" pitchFamily="2" charset="77"/>
                <a:cs typeface="Space Grotesk" pitchFamily="2" charset="77"/>
              </a:rPr>
              <a:t>¿</a:t>
            </a:r>
            <a:r>
              <a:rPr lang="es-PE" sz="2000" dirty="0">
                <a:latin typeface="Space Grotesk" pitchFamily="2" charset="77"/>
                <a:cs typeface="Space Grotesk" pitchFamily="2" charset="77"/>
              </a:rPr>
              <a:t>Cuál será el alcance?</a:t>
            </a:r>
          </a:p>
          <a:p>
            <a:pPr marL="669925" indent="-32702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ES" dirty="0">
                <a:latin typeface="Space Grotesk" pitchFamily="2" charset="77"/>
                <a:cs typeface="Space Grotesk" pitchFamily="2" charset="77"/>
              </a:rPr>
              <a:t>Lectura de archivos .CSV desde carpeta local.</a:t>
            </a:r>
          </a:p>
          <a:p>
            <a:pPr marL="669925" indent="-32702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ES" dirty="0">
                <a:latin typeface="Space Grotesk" pitchFamily="2" charset="77"/>
                <a:cs typeface="Space Grotesk" pitchFamily="2" charset="77"/>
              </a:rPr>
              <a:t>Ejecución del DAG en 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Airflow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.</a:t>
            </a:r>
          </a:p>
          <a:p>
            <a:pPr marL="669925" indent="-32702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ES" dirty="0">
                <a:latin typeface="Space Grotesk" pitchFamily="2" charset="77"/>
                <a:cs typeface="Space Grotesk" pitchFamily="2" charset="77"/>
              </a:rPr>
              <a:t>Carga del archivo original en ADLS Gen2 (Raw).</a:t>
            </a:r>
          </a:p>
          <a:p>
            <a:pPr marL="669925" indent="-32702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ES" dirty="0">
                <a:latin typeface="Space Grotesk" pitchFamily="2" charset="77"/>
                <a:cs typeface="Space Grotesk" pitchFamily="2" charset="77"/>
              </a:rPr>
              <a:t>Validaciones básicas y manejo simple de errores.</a:t>
            </a:r>
            <a:endParaRPr lang="es-PE"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07148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01175C4-8592-8028-0260-B9DFD16CE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74FCDFA4-43F0-611B-2DA3-E5410DE79382}"/>
              </a:ext>
            </a:extLst>
          </p:cNvPr>
          <p:cNvSpPr txBox="1"/>
          <p:nvPr/>
        </p:nvSpPr>
        <p:spPr>
          <a:xfrm>
            <a:off x="738384" y="1209693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 conceptual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800DF53C-3F4B-CA8B-866B-D7F3F0BA36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6</a:t>
            </a:fld>
            <a:endParaRPr dirty="0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A55DA8C3-0AAF-CB80-BB27-C4B938A325E8}"/>
              </a:ext>
            </a:extLst>
          </p:cNvPr>
          <p:cNvSpPr txBox="1"/>
          <p:nvPr/>
        </p:nvSpPr>
        <p:spPr>
          <a:xfrm>
            <a:off x="813817" y="1845646"/>
            <a:ext cx="1973554" cy="332399"/>
          </a:xfrm>
          <a:prstGeom prst="rect">
            <a:avLst/>
          </a:prstGeom>
          <a:noFill/>
        </p:spPr>
        <p:txBody>
          <a:bodyPr wrap="none" lIns="73152" tIns="27432" rIns="73152" bIns="27432">
            <a:spAutoFit/>
          </a:bodyPr>
          <a:lstStyle/>
          <a:p>
            <a:pPr algn="l"/>
            <a:r>
              <a:rPr sz="1800" dirty="0" err="1">
                <a:latin typeface="Space Grotesk" pitchFamily="2" charset="77"/>
                <a:cs typeface="Space Grotesk" pitchFamily="2" charset="77"/>
              </a:rPr>
              <a:t>Flujo</a:t>
            </a:r>
            <a:r>
              <a:rPr sz="1800" dirty="0">
                <a:latin typeface="Space Grotesk" pitchFamily="2" charset="77"/>
                <a:cs typeface="Space Grotesk" pitchFamily="2" charset="77"/>
              </a:rPr>
              <a:t> de ingesta:</a:t>
            </a:r>
            <a:endParaRPr sz="1600" b="0" dirty="0">
              <a:solidFill>
                <a:srgbClr val="586069"/>
              </a:solidFill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DB62EED5-94B2-DCA8-0422-4B54BA405CA8}"/>
              </a:ext>
            </a:extLst>
          </p:cNvPr>
          <p:cNvSpPr/>
          <p:nvPr/>
        </p:nvSpPr>
        <p:spPr>
          <a:xfrm>
            <a:off x="1810364" y="2274583"/>
            <a:ext cx="2525908" cy="150876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28016" tIns="100584" rIns="128016" bIns="73152" rtlCol="0" anchor="ctr"/>
          <a:lstStyle/>
          <a:p>
            <a:pPr algn="ctr">
              <a:defRPr sz="1500" b="1">
                <a:solidFill>
                  <a:srgbClr val="1E6091"/>
                </a:solidFill>
                <a:latin typeface="Aptos Display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Fuentes de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datos</a:t>
            </a:r>
            <a:endParaRPr dirty="0">
              <a:latin typeface="Space Grotesk" pitchFamily="2" charset="77"/>
              <a:cs typeface="Space Grotesk" pitchFamily="2" charset="77"/>
            </a:endParaRPr>
          </a:p>
          <a:p>
            <a:pPr>
              <a:spcBef>
                <a:spcPts val="400"/>
              </a:spcBef>
              <a:defRPr sz="110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Servidor</a:t>
            </a:r>
            <a:r>
              <a:rPr dirty="0">
                <a:latin typeface="Space Grotesk" pitchFamily="2" charset="77"/>
                <a:cs typeface="Space Grotesk" pitchFamily="2" charset="77"/>
              </a:rPr>
              <a:t> local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simulado</a:t>
            </a:r>
            <a:r>
              <a:rPr dirty="0">
                <a:latin typeface="Space Grotesk" pitchFamily="2" charset="77"/>
                <a:cs typeface="Space Grotesk" pitchFamily="2" charset="77"/>
              </a:rPr>
              <a:t> con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archivos</a:t>
            </a:r>
            <a:r>
              <a:rPr dirty="0">
                <a:latin typeface="Space Grotesk" pitchFamily="2" charset="77"/>
                <a:cs typeface="Space Grotesk" pitchFamily="2" charset="77"/>
              </a:rPr>
              <a:t> CSV.</a:t>
            </a:r>
          </a:p>
          <a:p>
            <a:pPr>
              <a:spcBef>
                <a:spcPts val="400"/>
              </a:spcBef>
              <a:defRPr sz="110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Carpeta</a:t>
            </a:r>
            <a:r>
              <a:rPr dirty="0">
                <a:latin typeface="Space Grotesk" pitchFamily="2" charset="77"/>
                <a:cs typeface="Space Grotesk" pitchFamily="2" charset="77"/>
              </a:rPr>
              <a:t> DATA con MB51_YYYY_MM.csv.</a:t>
            </a:r>
          </a:p>
          <a:p>
            <a:pPr>
              <a:spcBef>
                <a:spcPts val="400"/>
              </a:spcBef>
              <a:defRPr sz="1100">
                <a:solidFill>
                  <a:srgbClr val="1E1E1E"/>
                </a:solidFill>
                <a:latin typeface="Aptos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Datos crudos de</a:t>
            </a:r>
            <a:r>
              <a:rPr lang="en-US"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movimientos</a:t>
            </a:r>
            <a:r>
              <a:rPr dirty="0">
                <a:latin typeface="Space Grotesk" pitchFamily="2" charset="77"/>
                <a:cs typeface="Space Grotesk" pitchFamily="2" charset="77"/>
              </a:rPr>
              <a:t>/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materiales</a:t>
            </a:r>
            <a:r>
              <a:rPr dirty="0">
                <a:latin typeface="Space Grotesk" pitchFamily="2" charset="77"/>
                <a:cs typeface="Space Grotesk" pitchFamily="2" charset="77"/>
              </a:rPr>
              <a:t> SAP.</a:t>
            </a: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743E8B1-3849-ECA9-9631-10F083DFDBA5}"/>
              </a:ext>
            </a:extLst>
          </p:cNvPr>
          <p:cNvSpPr/>
          <p:nvPr/>
        </p:nvSpPr>
        <p:spPr>
          <a:xfrm>
            <a:off x="4839192" y="2274583"/>
            <a:ext cx="2513616" cy="150876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8016" tIns="100584" rIns="128016" bIns="73152" rtlCol="0" anchor="ctr"/>
          <a:lstStyle/>
          <a:p>
            <a:pPr algn="ctr">
              <a:defRPr sz="1500" b="1">
                <a:solidFill>
                  <a:srgbClr val="008080"/>
                </a:solidFill>
                <a:latin typeface="Aptos Display"/>
              </a:defRPr>
            </a:pPr>
            <a:r>
              <a:rPr dirty="0" err="1">
                <a:solidFill>
                  <a:schemeClr val="accent2"/>
                </a:solidFill>
                <a:latin typeface="Space Grotesk" pitchFamily="2" charset="77"/>
                <a:cs typeface="Space Grotesk" pitchFamily="2" charset="77"/>
              </a:rPr>
              <a:t>Orquestador</a:t>
            </a:r>
            <a:endParaRPr dirty="0">
              <a:solidFill>
                <a:schemeClr val="accent2"/>
              </a:solidFill>
              <a:latin typeface="Space Grotesk" pitchFamily="2" charset="77"/>
              <a:cs typeface="Space Grotesk" pitchFamily="2" charset="77"/>
            </a:endParaRPr>
          </a:p>
          <a:p>
            <a:pPr>
              <a:spcBef>
                <a:spcPts val="400"/>
              </a:spcBef>
              <a:defRPr sz="1100">
                <a:solidFill>
                  <a:srgbClr val="1E1E1E"/>
                </a:solidFill>
                <a:latin typeface="Aptos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Apache Airflow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ejecuta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el</a:t>
            </a:r>
            <a:r>
              <a:rPr dirty="0">
                <a:latin typeface="Space Grotesk" pitchFamily="2" charset="77"/>
                <a:cs typeface="Space Grotesk" pitchFamily="2" charset="77"/>
              </a:rPr>
              <a:t> DAG.</a:t>
            </a:r>
          </a:p>
          <a:p>
            <a:pPr>
              <a:spcBef>
                <a:spcPts val="400"/>
              </a:spcBef>
              <a:defRPr sz="110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Controla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dependencias</a:t>
            </a:r>
            <a:r>
              <a:rPr dirty="0">
                <a:latin typeface="Space Grotesk" pitchFamily="2" charset="77"/>
                <a:cs typeface="Space Grotesk" pitchFamily="2" charset="77"/>
              </a:rPr>
              <a:t>, logs y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reintentos</a:t>
            </a:r>
            <a:r>
              <a:rPr dirty="0">
                <a:latin typeface="Space Grotesk" pitchFamily="2" charset="77"/>
                <a:cs typeface="Space Grotesk" pitchFamily="2" charset="77"/>
              </a:rPr>
              <a:t>.</a:t>
            </a:r>
          </a:p>
          <a:p>
            <a:pPr>
              <a:spcBef>
                <a:spcPts val="400"/>
              </a:spcBef>
              <a:defRPr sz="110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Permite</a:t>
            </a:r>
            <a:r>
              <a:rPr dirty="0">
                <a:latin typeface="Space Grotesk" pitchFamily="2" charset="77"/>
                <a:cs typeface="Space Grotesk" pitchFamily="2" charset="77"/>
              </a:rPr>
              <a:t> corridas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manuales</a:t>
            </a:r>
            <a:r>
              <a:rPr dirty="0">
                <a:latin typeface="Space Grotesk" pitchFamily="2" charset="77"/>
                <a:cs typeface="Space Grotesk" pitchFamily="2" charset="77"/>
              </a:rPr>
              <a:t> o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programadas</a:t>
            </a:r>
            <a:r>
              <a:rPr dirty="0">
                <a:latin typeface="Space Grotesk" pitchFamily="2" charset="77"/>
                <a:cs typeface="Space Grotesk" pitchFamily="2" charset="77"/>
              </a:rPr>
              <a:t>.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463DE1F2-FA0C-33F1-B6D1-B54229AA0D87}"/>
              </a:ext>
            </a:extLst>
          </p:cNvPr>
          <p:cNvSpPr/>
          <p:nvPr/>
        </p:nvSpPr>
        <p:spPr>
          <a:xfrm>
            <a:off x="7850813" y="2274583"/>
            <a:ext cx="2513616" cy="150876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28016" tIns="100584" rIns="128016" bIns="73152" rtlCol="0" anchor="ctr"/>
          <a:lstStyle/>
          <a:p>
            <a:pPr algn="ctr">
              <a:defRPr sz="1500" b="1">
                <a:solidFill>
                  <a:srgbClr val="3E8E41"/>
                </a:solidFill>
                <a:latin typeface="Aptos Display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Zona de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almacenamiento</a:t>
            </a:r>
            <a:endParaRPr dirty="0">
              <a:latin typeface="Space Grotesk" pitchFamily="2" charset="77"/>
              <a:cs typeface="Space Grotesk" pitchFamily="2" charset="77"/>
            </a:endParaRPr>
          </a:p>
          <a:p>
            <a:pPr>
              <a:spcBef>
                <a:spcPts val="400"/>
              </a:spcBef>
              <a:defRPr sz="1100">
                <a:solidFill>
                  <a:srgbClr val="1E1E1E"/>
                </a:solidFill>
                <a:latin typeface="Aptos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Azure Data Lake Storage Gen2.</a:t>
            </a:r>
          </a:p>
          <a:p>
            <a:pPr>
              <a:spcBef>
                <a:spcPts val="400"/>
              </a:spcBef>
              <a:defRPr sz="110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Contenedor</a:t>
            </a:r>
            <a:r>
              <a:rPr dirty="0">
                <a:latin typeface="Space Grotesk" pitchFamily="2" charset="77"/>
                <a:cs typeface="Space Grotesk" pitchFamily="2" charset="77"/>
              </a:rPr>
              <a:t> raw para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conservar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el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archivo</a:t>
            </a:r>
            <a:r>
              <a:rPr dirty="0">
                <a:latin typeface="Space Grotesk" pitchFamily="2" charset="77"/>
                <a:cs typeface="Space Grotesk" pitchFamily="2" charset="77"/>
              </a:rPr>
              <a:t> original.</a:t>
            </a:r>
          </a:p>
          <a:p>
            <a:pPr>
              <a:spcBef>
                <a:spcPts val="400"/>
              </a:spcBef>
              <a:defRPr sz="1100">
                <a:solidFill>
                  <a:srgbClr val="1E1E1E"/>
                </a:solidFill>
                <a:latin typeface="Aptos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Base para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capas</a:t>
            </a:r>
            <a:r>
              <a:rPr dirty="0">
                <a:latin typeface="Space Grotesk" pitchFamily="2" charset="77"/>
                <a:cs typeface="Space Grotesk" pitchFamily="2" charset="77"/>
              </a:rPr>
              <a:t> Silver y Gold.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02EDE229-2E8F-153A-F558-1B1D5A5BE23E}"/>
              </a:ext>
            </a:extLst>
          </p:cNvPr>
          <p:cNvSpPr txBox="1"/>
          <p:nvPr/>
        </p:nvSpPr>
        <p:spPr>
          <a:xfrm>
            <a:off x="813817" y="4141492"/>
            <a:ext cx="4907049" cy="332399"/>
          </a:xfrm>
          <a:prstGeom prst="rect">
            <a:avLst/>
          </a:prstGeom>
          <a:noFill/>
        </p:spPr>
        <p:txBody>
          <a:bodyPr wrap="none" lIns="73152" tIns="27432" rIns="73152" bIns="27432">
            <a:spAutoFit/>
          </a:bodyPr>
          <a:lstStyle/>
          <a:p>
            <a:r>
              <a:rPr lang="en-PE" sz="1800" dirty="0">
                <a:latin typeface="Space Grotesk" pitchFamily="2" charset="77"/>
                <a:cs typeface="Space Grotesk" pitchFamily="2" charset="77"/>
              </a:rPr>
              <a:t>¿</a:t>
            </a:r>
            <a:r>
              <a:rPr sz="1800" dirty="0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Por </a:t>
            </a:r>
            <a:r>
              <a:rPr sz="1800" dirty="0" err="1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qué</a:t>
            </a:r>
            <a:r>
              <a:rPr sz="1800" dirty="0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 se </a:t>
            </a:r>
            <a:r>
              <a:rPr sz="1800" dirty="0" err="1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eligieron</a:t>
            </a:r>
            <a:r>
              <a:rPr sz="1800" dirty="0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 </a:t>
            </a:r>
            <a:r>
              <a:rPr sz="1800" dirty="0" err="1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estos</a:t>
            </a:r>
            <a:r>
              <a:rPr sz="1800" dirty="0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 </a:t>
            </a:r>
            <a:r>
              <a:rPr sz="1800" dirty="0" err="1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component</a:t>
            </a:r>
            <a:r>
              <a:rPr lang="en-US" sz="1800" dirty="0" err="1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e</a:t>
            </a:r>
            <a:r>
              <a:rPr sz="1800" dirty="0" err="1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s</a:t>
            </a:r>
            <a:r>
              <a:rPr lang="en-US" sz="1800" dirty="0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?</a:t>
            </a:r>
            <a:endParaRPr sz="1800" dirty="0">
              <a:solidFill>
                <a:srgbClr val="182B4D"/>
              </a:solidFill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E65678EA-66AA-8D11-167C-BF80D04016D2}"/>
              </a:ext>
            </a:extLst>
          </p:cNvPr>
          <p:cNvSpPr/>
          <p:nvPr/>
        </p:nvSpPr>
        <p:spPr>
          <a:xfrm>
            <a:off x="1907458" y="4616629"/>
            <a:ext cx="2331720" cy="146304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28016" tIns="100584" rIns="128016" bIns="73152" rtlCol="0" anchor="ctr"/>
          <a:lstStyle/>
          <a:p>
            <a:pPr algn="ctr">
              <a:defRPr sz="1400" b="1">
                <a:solidFill>
                  <a:srgbClr val="1E6091"/>
                </a:solidFill>
                <a:latin typeface="Aptos Display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Local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50">
                <a:solidFill>
                  <a:srgbClr val="1E1E1E"/>
                </a:solidFill>
                <a:latin typeface="Aptos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Simula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el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origen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operativo</a:t>
            </a:r>
            <a:r>
              <a:rPr dirty="0">
                <a:latin typeface="Space Grotesk" pitchFamily="2" charset="77"/>
                <a:cs typeface="Space Grotesk" pitchFamily="2" charset="77"/>
              </a:rPr>
              <a:t> sin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depender</a:t>
            </a:r>
            <a:r>
              <a:rPr dirty="0">
                <a:latin typeface="Space Grotesk" pitchFamily="2" charset="77"/>
                <a:cs typeface="Space Grotesk" pitchFamily="2" charset="77"/>
              </a:rPr>
              <a:t> de un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sistema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productivo</a:t>
            </a:r>
            <a:r>
              <a:rPr dirty="0">
                <a:latin typeface="Space Grotesk" pitchFamily="2" charset="77"/>
                <a:cs typeface="Space Grotesk" pitchFamily="2" charset="77"/>
              </a:rPr>
              <a:t>.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5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Facilita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pruebas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repetibles</a:t>
            </a:r>
            <a:r>
              <a:rPr dirty="0">
                <a:latin typeface="Space Grotesk" pitchFamily="2" charset="77"/>
                <a:cs typeface="Space Grotesk" pitchFamily="2" charset="77"/>
              </a:rPr>
              <a:t> con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archivos</a:t>
            </a:r>
            <a:r>
              <a:rPr dirty="0">
                <a:latin typeface="Space Grotesk" pitchFamily="2" charset="77"/>
                <a:cs typeface="Space Grotesk" pitchFamily="2" charset="77"/>
              </a:rPr>
              <a:t> reales del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proyecto</a:t>
            </a:r>
            <a:r>
              <a:rPr dirty="0">
                <a:latin typeface="Space Grotesk" pitchFamily="2" charset="77"/>
                <a:cs typeface="Space Grotesk" pitchFamily="2" charset="77"/>
              </a:rPr>
              <a:t>.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2EFBDCA6-066C-EE24-2E22-AC922D30C41D}"/>
              </a:ext>
            </a:extLst>
          </p:cNvPr>
          <p:cNvSpPr/>
          <p:nvPr/>
        </p:nvSpPr>
        <p:spPr>
          <a:xfrm>
            <a:off x="4930140" y="4616629"/>
            <a:ext cx="2331720" cy="146304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8016" tIns="100584" rIns="128016" bIns="73152" rtlCol="0" anchor="ctr"/>
          <a:lstStyle/>
          <a:p>
            <a:pPr algn="ctr">
              <a:defRPr sz="1400" b="1">
                <a:solidFill>
                  <a:srgbClr val="008080"/>
                </a:solidFill>
                <a:latin typeface="Aptos Display"/>
              </a:defRPr>
            </a:pPr>
            <a:r>
              <a:rPr dirty="0">
                <a:solidFill>
                  <a:schemeClr val="accent2"/>
                </a:solidFill>
                <a:latin typeface="Space Grotesk" pitchFamily="2" charset="77"/>
                <a:cs typeface="Space Grotesk" pitchFamily="2" charset="77"/>
              </a:rPr>
              <a:t>Airflow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50">
                <a:solidFill>
                  <a:srgbClr val="1E1E1E"/>
                </a:solidFill>
                <a:latin typeface="Aptos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Da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visibilidad</a:t>
            </a:r>
            <a:r>
              <a:rPr dirty="0">
                <a:latin typeface="Space Grotesk" pitchFamily="2" charset="77"/>
                <a:cs typeface="Space Grotesk" pitchFamily="2" charset="77"/>
              </a:rPr>
              <a:t> de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cada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tarea</a:t>
            </a:r>
            <a:r>
              <a:rPr dirty="0">
                <a:latin typeface="Space Grotesk" pitchFamily="2" charset="77"/>
                <a:cs typeface="Space Grotesk" pitchFamily="2" charset="77"/>
              </a:rPr>
              <a:t> del pipeline.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50">
                <a:solidFill>
                  <a:srgbClr val="1E1E1E"/>
                </a:solidFill>
                <a:latin typeface="Aptos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Maneja agenda,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dependencias</a:t>
            </a:r>
            <a:r>
              <a:rPr dirty="0">
                <a:latin typeface="Space Grotesk" pitchFamily="2" charset="77"/>
                <a:cs typeface="Space Grotesk" pitchFamily="2" charset="77"/>
              </a:rPr>
              <a:t>, timeouts, logs y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reintentos</a:t>
            </a:r>
            <a:r>
              <a:rPr dirty="0">
                <a:latin typeface="Space Grotesk" pitchFamily="2" charset="77"/>
                <a:cs typeface="Space Grotesk" pitchFamily="2" charset="77"/>
              </a:rPr>
              <a:t>.</a:t>
            </a: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E1F6C9C6-9B98-7F39-B5BD-96472F4207AB}"/>
              </a:ext>
            </a:extLst>
          </p:cNvPr>
          <p:cNvSpPr/>
          <p:nvPr/>
        </p:nvSpPr>
        <p:spPr>
          <a:xfrm>
            <a:off x="7941761" y="4616629"/>
            <a:ext cx="2331720" cy="146304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28016" tIns="100584" rIns="128016" bIns="73152" rtlCol="0" anchor="ctr"/>
          <a:lstStyle/>
          <a:p>
            <a:pPr algn="ctr">
              <a:defRPr sz="1400" b="1">
                <a:solidFill>
                  <a:srgbClr val="3E8E41"/>
                </a:solidFill>
                <a:latin typeface="Aptos Display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ADLS Raw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5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Escalable</a:t>
            </a:r>
            <a:r>
              <a:rPr dirty="0">
                <a:latin typeface="Space Grotesk" pitchFamily="2" charset="77"/>
                <a:cs typeface="Space Grotesk" pitchFamily="2" charset="77"/>
              </a:rPr>
              <a:t>,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económico</a:t>
            </a:r>
            <a:r>
              <a:rPr dirty="0">
                <a:latin typeface="Space Grotesk" pitchFamily="2" charset="77"/>
                <a:cs typeface="Space Grotesk" pitchFamily="2" charset="77"/>
              </a:rPr>
              <a:t> y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preparado</a:t>
            </a:r>
            <a:r>
              <a:rPr dirty="0">
                <a:latin typeface="Space Grotesk" pitchFamily="2" charset="77"/>
                <a:cs typeface="Space Grotesk" pitchFamily="2" charset="77"/>
              </a:rPr>
              <a:t> para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analítica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en</a:t>
            </a:r>
            <a:r>
              <a:rPr dirty="0">
                <a:latin typeface="Space Grotesk" pitchFamily="2" charset="77"/>
                <a:cs typeface="Space Grotesk" pitchFamily="2" charset="77"/>
              </a:rPr>
              <a:t> la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nube</a:t>
            </a:r>
            <a:r>
              <a:rPr dirty="0">
                <a:latin typeface="Space Grotesk" pitchFamily="2" charset="77"/>
                <a:cs typeface="Space Grotesk" pitchFamily="2" charset="77"/>
              </a:rPr>
              <a:t>.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5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Mantiene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trazabilidad</a:t>
            </a:r>
            <a:r>
              <a:rPr dirty="0">
                <a:latin typeface="Space Grotesk" pitchFamily="2" charset="77"/>
                <a:cs typeface="Space Grotesk" pitchFamily="2" charset="77"/>
              </a:rPr>
              <a:t> antes de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limpiar</a:t>
            </a:r>
            <a:r>
              <a:rPr dirty="0">
                <a:latin typeface="Space Grotesk" pitchFamily="2" charset="77"/>
                <a:cs typeface="Space Grotesk" pitchFamily="2" charset="77"/>
              </a:rPr>
              <a:t> o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transformar</a:t>
            </a:r>
            <a:r>
              <a:rPr dirty="0">
                <a:latin typeface="Space Grotesk" pitchFamily="2" charset="77"/>
                <a:cs typeface="Space Grotesk" pitchFamily="2" charset="7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BE715-66A1-9C22-02AA-11AC163B190D}"/>
              </a:ext>
            </a:extLst>
          </p:cNvPr>
          <p:cNvSpPr txBox="1"/>
          <p:nvPr/>
        </p:nvSpPr>
        <p:spPr>
          <a:xfrm>
            <a:off x="2865681" y="3783343"/>
            <a:ext cx="6094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100">
                <a:solidFill>
                  <a:srgbClr val="586069"/>
                </a:solidFill>
                <a:latin typeface="Aptos"/>
              </a:defRPr>
            </a:lvl1pPr>
          </a:lstStyle>
          <a:p>
            <a:r>
              <a:rPr lang="en-PE" dirty="0">
                <a:latin typeface="Space Grotesk" pitchFamily="2" charset="77"/>
                <a:cs typeface="Space Grotesk" pitchFamily="2" charset="77"/>
              </a:rPr>
              <a:t>LOCAL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E6DAB7-0C7A-6AC9-F501-1A9F4210AD06}"/>
              </a:ext>
            </a:extLst>
          </p:cNvPr>
          <p:cNvSpPr txBox="1"/>
          <p:nvPr/>
        </p:nvSpPr>
        <p:spPr>
          <a:xfrm>
            <a:off x="5700321" y="3783343"/>
            <a:ext cx="7633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100">
                <a:solidFill>
                  <a:srgbClr val="586069"/>
                </a:solidFill>
                <a:latin typeface="Aptos"/>
              </a:defRPr>
            </a:lvl1pPr>
          </a:lstStyle>
          <a:p>
            <a:r>
              <a:rPr lang="en-US" dirty="0">
                <a:latin typeface="Space Grotesk" pitchFamily="2" charset="77"/>
                <a:cs typeface="Space Grotesk" pitchFamily="2" charset="77"/>
              </a:rPr>
              <a:t>AIRFLOW</a:t>
            </a:r>
            <a:endParaRPr lang="en-PE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47E487-D6E1-F146-C108-4C530B536003}"/>
              </a:ext>
            </a:extLst>
          </p:cNvPr>
          <p:cNvSpPr txBox="1"/>
          <p:nvPr/>
        </p:nvSpPr>
        <p:spPr>
          <a:xfrm>
            <a:off x="8166119" y="3783343"/>
            <a:ext cx="18053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586069"/>
                </a:solidFill>
                <a:latin typeface="Space Grotesk" pitchFamily="2" charset="77"/>
                <a:cs typeface="Space Grotesk" pitchFamily="2" charset="77"/>
              </a:rPr>
              <a:t>AZURE DATA LAKE / RAW</a:t>
            </a:r>
            <a:endParaRPr lang="en-PE" sz="1100" dirty="0">
              <a:latin typeface="Space Grotesk" pitchFamily="2" charset="77"/>
              <a:cs typeface="Space Grotesk" pitchFamily="2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40C3DCA-A5C3-5BF6-2E7C-329558206CB1}"/>
              </a:ext>
            </a:extLst>
          </p:cNvPr>
          <p:cNvCxnSpPr>
            <a:cxnSpLocks/>
          </p:cNvCxnSpPr>
          <p:nvPr/>
        </p:nvCxnSpPr>
        <p:spPr>
          <a:xfrm>
            <a:off x="4371192" y="3045652"/>
            <a:ext cx="4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71F534-5630-5AFA-E03D-EE7D3696118B}"/>
              </a:ext>
            </a:extLst>
          </p:cNvPr>
          <p:cNvCxnSpPr>
            <a:cxnSpLocks/>
          </p:cNvCxnSpPr>
          <p:nvPr/>
        </p:nvCxnSpPr>
        <p:spPr>
          <a:xfrm>
            <a:off x="7374309" y="3062341"/>
            <a:ext cx="466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56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4FD8A8E-D95C-7079-7C9B-58BD4A0E6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395E998C-A325-B3CC-FCF3-2A471278482C}"/>
              </a:ext>
            </a:extLst>
          </p:cNvPr>
          <p:cNvSpPr txBox="1"/>
          <p:nvPr/>
        </p:nvSpPr>
        <p:spPr>
          <a:xfrm>
            <a:off x="738384" y="1133496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Descripción del pipeline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97596D55-5423-DC42-4C55-5C36BC2270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7</a:t>
            </a:fld>
            <a:endParaRPr dirty="0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8054CB59-90D8-9A7E-6184-627B7AD7E6CA}"/>
              </a:ext>
            </a:extLst>
          </p:cNvPr>
          <p:cNvSpPr txBox="1"/>
          <p:nvPr/>
        </p:nvSpPr>
        <p:spPr>
          <a:xfrm>
            <a:off x="866504" y="1693247"/>
            <a:ext cx="8513806" cy="293927"/>
          </a:xfrm>
          <a:prstGeom prst="rect">
            <a:avLst/>
          </a:prstGeom>
          <a:noFill/>
        </p:spPr>
        <p:txBody>
          <a:bodyPr wrap="none" lIns="73152" tIns="27432" rIns="73152" bIns="27432">
            <a:spAutoFit/>
          </a:bodyPr>
          <a:lstStyle/>
          <a:p>
            <a:pPr algn="l"/>
            <a:r>
              <a:rPr sz="1550" b="0" dirty="0">
                <a:solidFill>
                  <a:srgbClr val="586069"/>
                </a:solidFill>
                <a:latin typeface="Space Grotesk" pitchFamily="2" charset="77"/>
                <a:cs typeface="Space Grotesk" pitchFamily="2" charset="77"/>
              </a:rPr>
              <a:t>DAG de ingesta batch para mover </a:t>
            </a:r>
            <a:r>
              <a:rPr sz="1550" b="0" dirty="0" err="1">
                <a:solidFill>
                  <a:srgbClr val="586069"/>
                </a:solidFill>
                <a:latin typeface="Space Grotesk" pitchFamily="2" charset="77"/>
                <a:cs typeface="Space Grotesk" pitchFamily="2" charset="77"/>
              </a:rPr>
              <a:t>archivos</a:t>
            </a:r>
            <a:r>
              <a:rPr sz="1550" b="0" dirty="0">
                <a:solidFill>
                  <a:srgbClr val="586069"/>
                </a:solidFill>
                <a:latin typeface="Space Grotesk" pitchFamily="2" charset="77"/>
                <a:cs typeface="Space Grotesk" pitchFamily="2" charset="77"/>
              </a:rPr>
              <a:t> CSV locales </a:t>
            </a:r>
            <a:r>
              <a:rPr sz="1550" b="0" dirty="0" err="1">
                <a:solidFill>
                  <a:srgbClr val="586069"/>
                </a:solidFill>
                <a:latin typeface="Space Grotesk" pitchFamily="2" charset="77"/>
                <a:cs typeface="Space Grotesk" pitchFamily="2" charset="77"/>
              </a:rPr>
              <a:t>hacia</a:t>
            </a:r>
            <a:r>
              <a:rPr sz="1550" b="0" dirty="0">
                <a:solidFill>
                  <a:srgbClr val="586069"/>
                </a:solidFill>
                <a:latin typeface="Space Grotesk" pitchFamily="2" charset="77"/>
                <a:cs typeface="Space Grotesk" pitchFamily="2" charset="77"/>
              </a:rPr>
              <a:t> la zona Raw del Data Lake.</a:t>
            </a:r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49D6ED2E-362A-CDE0-CBD6-544AA1CC6CB3}"/>
              </a:ext>
            </a:extLst>
          </p:cNvPr>
          <p:cNvSpPr/>
          <p:nvPr/>
        </p:nvSpPr>
        <p:spPr>
          <a:xfrm>
            <a:off x="1961608" y="2264967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Space Grotesk" pitchFamily="2" charset="77"/>
                <a:cs typeface="Space Grotesk" pitchFamily="2" charset="77"/>
              </a:rPr>
              <a:t>1</a:t>
            </a: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6BB28780-DDBF-6272-5A9D-529459C197F4}"/>
              </a:ext>
            </a:extLst>
          </p:cNvPr>
          <p:cNvSpPr/>
          <p:nvPr/>
        </p:nvSpPr>
        <p:spPr>
          <a:xfrm>
            <a:off x="2510248" y="2100375"/>
            <a:ext cx="4709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rtlCol="0" anchor="ctr"/>
          <a:lstStyle/>
          <a:p>
            <a:pPr algn="ctr">
              <a:defRPr sz="1400" b="1">
                <a:solidFill>
                  <a:srgbClr val="182B4D"/>
                </a:solidFill>
                <a:latin typeface="Aptos Display"/>
              </a:defRPr>
            </a:pPr>
            <a:r>
              <a:rPr lang="en-US" dirty="0" err="1">
                <a:latin typeface="Space Grotesk" pitchFamily="2" charset="77"/>
                <a:cs typeface="Space Grotesk" pitchFamily="2" charset="77"/>
              </a:rPr>
              <a:t>e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sperar_archivos_locales</a:t>
            </a:r>
            <a:endParaRPr dirty="0">
              <a:latin typeface="Space Grotesk" pitchFamily="2" charset="77"/>
              <a:cs typeface="Space Grotesk" pitchFamily="2" charset="77"/>
            </a:endParaRPr>
          </a:p>
          <a:p>
            <a:pPr>
              <a:defRPr sz="107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FileSensor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detecta</a:t>
            </a:r>
            <a:r>
              <a:rPr dirty="0">
                <a:latin typeface="Space Grotesk" pitchFamily="2" charset="77"/>
                <a:cs typeface="Space Grotesk" pitchFamily="2" charset="77"/>
              </a:rPr>
              <a:t> CSV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nuevos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en</a:t>
            </a:r>
            <a:r>
              <a:rPr dirty="0">
                <a:latin typeface="Space Grotesk" pitchFamily="2" charset="77"/>
                <a:cs typeface="Space Grotesk" pitchFamily="2" charset="77"/>
              </a:rPr>
              <a:t> la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carpeta</a:t>
            </a:r>
            <a:r>
              <a:rPr dirty="0">
                <a:latin typeface="Space Grotesk" pitchFamily="2" charset="77"/>
                <a:cs typeface="Space Grotesk" pitchFamily="2" charset="77"/>
              </a:rPr>
              <a:t> de entrada.</a:t>
            </a:r>
          </a:p>
        </p:txBody>
      </p:sp>
      <p:cxnSp>
        <p:nvCxnSpPr>
          <p:cNvPr id="5" name="Connector 7">
            <a:extLst>
              <a:ext uri="{FF2B5EF4-FFF2-40B4-BE49-F238E27FC236}">
                <a16:creationId xmlns:a16="http://schemas.microsoft.com/office/drawing/2014/main" id="{ACA0D861-CC83-7E23-6A75-2C6AB5DB8F32}"/>
              </a:ext>
            </a:extLst>
          </p:cNvPr>
          <p:cNvCxnSpPr>
            <a:cxnSpLocks/>
          </p:cNvCxnSpPr>
          <p:nvPr/>
        </p:nvCxnSpPr>
        <p:spPr>
          <a:xfrm>
            <a:off x="2162776" y="2841039"/>
            <a:ext cx="0" cy="182880"/>
          </a:xfrm>
          <a:prstGeom prst="line">
            <a:avLst/>
          </a:prstGeom>
          <a:ln w="31750">
            <a:solidFill>
              <a:srgbClr val="1E60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8">
            <a:extLst>
              <a:ext uri="{FF2B5EF4-FFF2-40B4-BE49-F238E27FC236}">
                <a16:creationId xmlns:a16="http://schemas.microsoft.com/office/drawing/2014/main" id="{C1D3604B-EDEF-535B-629D-87EFC18B5197}"/>
              </a:ext>
            </a:extLst>
          </p:cNvPr>
          <p:cNvSpPr/>
          <p:nvPr/>
        </p:nvSpPr>
        <p:spPr>
          <a:xfrm>
            <a:off x="1961608" y="3206799"/>
            <a:ext cx="411480" cy="4114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Space Grotesk" pitchFamily="2" charset="77"/>
                <a:cs typeface="Space Grotesk" pitchFamily="2" charset="77"/>
              </a:rPr>
              <a:t>2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B20F74F0-79F1-30FB-5FE1-66E5773105E8}"/>
              </a:ext>
            </a:extLst>
          </p:cNvPr>
          <p:cNvSpPr/>
          <p:nvPr/>
        </p:nvSpPr>
        <p:spPr>
          <a:xfrm>
            <a:off x="2510248" y="3042207"/>
            <a:ext cx="4709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rtlCol="0" anchor="ctr"/>
          <a:lstStyle/>
          <a:p>
            <a:pPr algn="ctr">
              <a:defRPr sz="1400" b="1">
                <a:solidFill>
                  <a:srgbClr val="182B4D"/>
                </a:solidFill>
                <a:latin typeface="Aptos Display"/>
              </a:defRPr>
            </a:pPr>
            <a:r>
              <a:rPr lang="en-US" dirty="0" err="1">
                <a:latin typeface="Space Grotesk" pitchFamily="2" charset="77"/>
                <a:cs typeface="Space Grotesk" pitchFamily="2" charset="77"/>
              </a:rPr>
              <a:t>c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argar_archivo_a_azure</a:t>
            </a:r>
            <a:endParaRPr dirty="0">
              <a:latin typeface="Space Grotesk" pitchFamily="2" charset="77"/>
              <a:cs typeface="Space Grotesk" pitchFamily="2" charset="77"/>
            </a:endParaRPr>
          </a:p>
          <a:p>
            <a:pPr>
              <a:defRPr sz="107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LocalFilesystemToWasbOperator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sube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el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archivo</a:t>
            </a:r>
            <a:r>
              <a:rPr dirty="0">
                <a:latin typeface="Space Grotesk" pitchFamily="2" charset="77"/>
                <a:cs typeface="Space Grotesk" pitchFamily="2" charset="77"/>
              </a:rPr>
              <a:t> al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contenedor</a:t>
            </a:r>
            <a:r>
              <a:rPr dirty="0">
                <a:latin typeface="Space Grotesk" pitchFamily="2" charset="77"/>
                <a:cs typeface="Space Grotesk" pitchFamily="2" charset="77"/>
              </a:rPr>
              <a:t> raw.</a:t>
            </a:r>
          </a:p>
        </p:txBody>
      </p:sp>
      <p:cxnSp>
        <p:nvCxnSpPr>
          <p:cNvPr id="9" name="Connector 10">
            <a:extLst>
              <a:ext uri="{FF2B5EF4-FFF2-40B4-BE49-F238E27FC236}">
                <a16:creationId xmlns:a16="http://schemas.microsoft.com/office/drawing/2014/main" id="{CA1B84E2-8D09-643A-6C1A-8CC16DE63FA9}"/>
              </a:ext>
            </a:extLst>
          </p:cNvPr>
          <p:cNvCxnSpPr>
            <a:cxnSpLocks/>
          </p:cNvCxnSpPr>
          <p:nvPr/>
        </p:nvCxnSpPr>
        <p:spPr>
          <a:xfrm>
            <a:off x="2162776" y="3782871"/>
            <a:ext cx="0" cy="182880"/>
          </a:xfrm>
          <a:prstGeom prst="line">
            <a:avLst/>
          </a:prstGeom>
          <a:ln w="31750">
            <a:solidFill>
              <a:srgbClr val="1E60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11">
            <a:extLst>
              <a:ext uri="{FF2B5EF4-FFF2-40B4-BE49-F238E27FC236}">
                <a16:creationId xmlns:a16="http://schemas.microsoft.com/office/drawing/2014/main" id="{E3088E6C-43D0-1271-5EC6-DFB5D03322B7}"/>
              </a:ext>
            </a:extLst>
          </p:cNvPr>
          <p:cNvSpPr/>
          <p:nvPr/>
        </p:nvSpPr>
        <p:spPr>
          <a:xfrm>
            <a:off x="1961608" y="4148631"/>
            <a:ext cx="411480" cy="411480"/>
          </a:xfrm>
          <a:prstGeom prst="ellipse">
            <a:avLst/>
          </a:prstGeom>
          <a:solidFill>
            <a:srgbClr val="3E8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Space Grotesk" pitchFamily="2" charset="77"/>
                <a:cs typeface="Space Grotesk" pitchFamily="2" charset="77"/>
              </a:rPr>
              <a:t>3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943589A5-29AC-5F0F-502A-7EA8D89A638B}"/>
              </a:ext>
            </a:extLst>
          </p:cNvPr>
          <p:cNvSpPr/>
          <p:nvPr/>
        </p:nvSpPr>
        <p:spPr>
          <a:xfrm>
            <a:off x="2510248" y="3984039"/>
            <a:ext cx="4709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E8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rtlCol="0" anchor="ctr"/>
          <a:lstStyle/>
          <a:p>
            <a:pPr algn="ctr">
              <a:defRPr sz="1400" b="1">
                <a:solidFill>
                  <a:srgbClr val="182B4D"/>
                </a:solidFill>
                <a:latin typeface="Aptos Display"/>
              </a:defRPr>
            </a:pPr>
            <a:r>
              <a:rPr>
                <a:latin typeface="Space Grotesk" pitchFamily="2" charset="77"/>
                <a:cs typeface="Space Grotesk" pitchFamily="2" charset="77"/>
              </a:rPr>
              <a:t>archivar_archivos_locales</a:t>
            </a:r>
          </a:p>
          <a:p>
            <a:pPr>
              <a:defRPr sz="1070">
                <a:solidFill>
                  <a:srgbClr val="1E1E1E"/>
                </a:solidFill>
                <a:latin typeface="Aptos"/>
              </a:defRPr>
            </a:pPr>
            <a:r>
              <a:rPr>
                <a:latin typeface="Space Grotesk" pitchFamily="2" charset="77"/>
                <a:cs typeface="Space Grotesk" pitchFamily="2" charset="77"/>
              </a:rPr>
              <a:t>PythonOperator mueve el archivo procesado a archive para evitar reprocesos.</a:t>
            </a: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4A8A7039-6EC4-01D0-79FC-9F8CD3714553}"/>
              </a:ext>
            </a:extLst>
          </p:cNvPr>
          <p:cNvSpPr/>
          <p:nvPr/>
        </p:nvSpPr>
        <p:spPr>
          <a:xfrm>
            <a:off x="7493727" y="2100375"/>
            <a:ext cx="2948127" cy="1417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lIns="128016" tIns="100584" rIns="128016" bIns="73152" rtlCol="0" anchor="ctr"/>
          <a:lstStyle/>
          <a:p>
            <a:pPr algn="ctr">
              <a:defRPr sz="1400" b="1">
                <a:solidFill>
                  <a:srgbClr val="D47519"/>
                </a:solidFill>
                <a:latin typeface="Aptos Display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Frecuencia</a:t>
            </a:r>
            <a:r>
              <a:rPr dirty="0">
                <a:latin typeface="Space Grotesk" pitchFamily="2" charset="77"/>
                <a:cs typeface="Space Grotesk" pitchFamily="2" charset="77"/>
              </a:rPr>
              <a:t> de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ejecución</a:t>
            </a:r>
            <a:endParaRPr dirty="0">
              <a:latin typeface="Space Grotesk" pitchFamily="2" charset="77"/>
              <a:cs typeface="Space Grotesk" pitchFamily="2" charset="77"/>
            </a:endParaRP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Programación</a:t>
            </a:r>
            <a:r>
              <a:rPr dirty="0">
                <a:latin typeface="Space Grotesk" pitchFamily="2" charset="77"/>
                <a:cs typeface="Space Grotesk" pitchFamily="2" charset="77"/>
              </a:rPr>
              <a:t>: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diaria</a:t>
            </a:r>
            <a:r>
              <a:rPr dirty="0">
                <a:latin typeface="Space Grotesk" pitchFamily="2" charset="77"/>
                <a:cs typeface="Space Grotesk" pitchFamily="2" charset="77"/>
              </a:rPr>
              <a:t> (@daily).</a:t>
            </a: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  <a:latin typeface="Aptos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catchup=False para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evitar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reprocesar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periodos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antiguos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automáticamente</a:t>
            </a:r>
            <a:r>
              <a:rPr dirty="0">
                <a:latin typeface="Space Grotesk" pitchFamily="2" charset="77"/>
                <a:cs typeface="Space Grotesk" pitchFamily="2" charset="77"/>
              </a:rPr>
              <a:t>.</a:t>
            </a: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  <a:latin typeface="Aptos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En la demo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puede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ejecutarse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manualmente</a:t>
            </a:r>
            <a:r>
              <a:rPr dirty="0">
                <a:latin typeface="Space Grotesk" pitchFamily="2" charset="77"/>
                <a:cs typeface="Space Grotesk" pitchFamily="2" charset="77"/>
              </a:rPr>
              <a:t>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desde</a:t>
            </a:r>
            <a:r>
              <a:rPr dirty="0">
                <a:latin typeface="Space Grotesk" pitchFamily="2" charset="77"/>
                <a:cs typeface="Space Grotesk" pitchFamily="2" charset="77"/>
              </a:rPr>
              <a:t> Airflow UI.</a:t>
            </a: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BD495A14-4FBA-9842-8DD4-EAEA6B0F0133}"/>
              </a:ext>
            </a:extLst>
          </p:cNvPr>
          <p:cNvSpPr/>
          <p:nvPr/>
        </p:nvSpPr>
        <p:spPr>
          <a:xfrm>
            <a:off x="7493727" y="3746295"/>
            <a:ext cx="2948121" cy="14173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128016" tIns="100584" rIns="128016" bIns="73152" rtlCol="0" anchor="ctr"/>
          <a:lstStyle/>
          <a:p>
            <a:pPr algn="ctr">
              <a:defRPr sz="1400" b="1">
                <a:solidFill>
                  <a:srgbClr val="008080"/>
                </a:solidFill>
                <a:latin typeface="Aptos Display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Parámetros</a:t>
            </a:r>
            <a:r>
              <a:rPr dirty="0">
                <a:latin typeface="Space Grotesk" pitchFamily="2" charset="77"/>
                <a:cs typeface="Space Grotesk" pitchFamily="2" charset="77"/>
              </a:rPr>
              <a:t> de control</a:t>
            </a: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start_date</a:t>
            </a:r>
            <a:r>
              <a:rPr dirty="0">
                <a:latin typeface="Space Grotesk" pitchFamily="2" charset="77"/>
                <a:cs typeface="Space Grotesk" pitchFamily="2" charset="77"/>
              </a:rPr>
              <a:t>: 2026-06-01.</a:t>
            </a: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  <a:latin typeface="Aptos"/>
              </a:defRPr>
            </a:pPr>
            <a:r>
              <a:rPr dirty="0">
                <a:latin typeface="Space Grotesk" pitchFamily="2" charset="77"/>
                <a:cs typeface="Space Grotesk" pitchFamily="2" charset="77"/>
              </a:rPr>
              <a:t>retries: 1;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retry_delay</a:t>
            </a:r>
            <a:r>
              <a:rPr dirty="0">
                <a:latin typeface="Space Grotesk" pitchFamily="2" charset="77"/>
                <a:cs typeface="Space Grotesk" pitchFamily="2" charset="77"/>
              </a:rPr>
              <a:t>: 2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minutos</a:t>
            </a:r>
            <a:r>
              <a:rPr dirty="0">
                <a:latin typeface="Space Grotesk" pitchFamily="2" charset="77"/>
                <a:cs typeface="Space Grotesk" pitchFamily="2" charset="77"/>
              </a:rPr>
              <a:t>.</a:t>
            </a: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  <a:latin typeface="Aptos"/>
              </a:defRPr>
            </a:pPr>
            <a:r>
              <a:rPr dirty="0" err="1">
                <a:latin typeface="Space Grotesk" pitchFamily="2" charset="77"/>
                <a:cs typeface="Space Grotesk" pitchFamily="2" charset="77"/>
              </a:rPr>
              <a:t>FileSensor</a:t>
            </a:r>
            <a:r>
              <a:rPr dirty="0">
                <a:latin typeface="Space Grotesk" pitchFamily="2" charset="77"/>
                <a:cs typeface="Space Grotesk" pitchFamily="2" charset="77"/>
              </a:rPr>
              <a:t>: poke </a:t>
            </a:r>
            <a:r>
              <a:rPr dirty="0" err="1">
                <a:latin typeface="Space Grotesk" pitchFamily="2" charset="77"/>
                <a:cs typeface="Space Grotesk" pitchFamily="2" charset="77"/>
              </a:rPr>
              <a:t>cada</a:t>
            </a:r>
            <a:r>
              <a:rPr dirty="0">
                <a:latin typeface="Space Grotesk" pitchFamily="2" charset="77"/>
                <a:cs typeface="Space Grotesk" pitchFamily="2" charset="77"/>
              </a:rPr>
              <a:t> 15 s; timeout 120 s.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CB39250C-0CE6-D35F-ED49-BC225F11A895}"/>
              </a:ext>
            </a:extLst>
          </p:cNvPr>
          <p:cNvSpPr txBox="1"/>
          <p:nvPr/>
        </p:nvSpPr>
        <p:spPr>
          <a:xfrm>
            <a:off x="1915888" y="5259409"/>
            <a:ext cx="3623043" cy="301621"/>
          </a:xfrm>
          <a:prstGeom prst="rect">
            <a:avLst/>
          </a:prstGeom>
          <a:noFill/>
        </p:spPr>
        <p:txBody>
          <a:bodyPr wrap="none" lIns="73152" tIns="27432" rIns="73152" bIns="27432">
            <a:spAutoFit/>
          </a:bodyPr>
          <a:lstStyle/>
          <a:p>
            <a:pPr algn="l"/>
            <a:r>
              <a:rPr sz="1600" b="1" dirty="0" err="1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Errores</a:t>
            </a:r>
            <a:r>
              <a:rPr sz="1600" b="1" dirty="0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 </a:t>
            </a:r>
            <a:r>
              <a:rPr sz="1600" b="1" dirty="0" err="1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contemplados</a:t>
            </a:r>
            <a:r>
              <a:rPr sz="1600" b="1" dirty="0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 y </a:t>
            </a:r>
            <a:r>
              <a:rPr sz="1600" b="1" dirty="0" err="1">
                <a:solidFill>
                  <a:srgbClr val="182B4D"/>
                </a:solidFill>
                <a:latin typeface="Space Grotesk" pitchFamily="2" charset="77"/>
                <a:cs typeface="Space Grotesk" pitchFamily="2" charset="77"/>
              </a:rPr>
              <a:t>mitigación</a:t>
            </a:r>
            <a:endParaRPr sz="1600" b="1" dirty="0">
              <a:solidFill>
                <a:srgbClr val="182B4D"/>
              </a:solidFill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FE727C29-2429-654A-7B5D-3F026E78F5E5}"/>
              </a:ext>
            </a:extLst>
          </p:cNvPr>
          <p:cNvSpPr/>
          <p:nvPr/>
        </p:nvSpPr>
        <p:spPr>
          <a:xfrm>
            <a:off x="1961608" y="5642583"/>
            <a:ext cx="8480240" cy="95135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73152" rIns="146304" rtlCol="0" anchor="ctr"/>
          <a:lstStyle/>
          <a:p>
            <a:pPr algn="ctr" defTabSz="674688">
              <a:spcAft>
                <a:spcPts val="200"/>
              </a:spcAft>
              <a:defRPr sz="1030">
                <a:solidFill>
                  <a:srgbClr val="1E1E1E"/>
                </a:solidFill>
                <a:latin typeface="Aptos"/>
              </a:defRPr>
            </a:pPr>
            <a:r>
              <a:rPr lang="es-ES" dirty="0">
                <a:latin typeface="Space Grotesk" pitchFamily="2" charset="77"/>
                <a:cs typeface="Space Grotesk" pitchFamily="2" charset="77"/>
              </a:rPr>
              <a:t>Sin archivo disponible: 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FileSensor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 corta por 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timeout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 y registra el evento.</a:t>
            </a:r>
          </a:p>
          <a:p>
            <a:pPr algn="ctr" defTabSz="674688">
              <a:spcAft>
                <a:spcPts val="200"/>
              </a:spcAft>
              <a:defRPr sz="1030">
                <a:solidFill>
                  <a:srgbClr val="1E1E1E"/>
                </a:solidFill>
                <a:latin typeface="Aptos"/>
              </a:defRPr>
            </a:pPr>
            <a:r>
              <a:rPr lang="es-ES" dirty="0">
                <a:latin typeface="Space Grotesk" pitchFamily="2" charset="77"/>
                <a:cs typeface="Space Grotesk" pitchFamily="2" charset="77"/>
              </a:rPr>
              <a:t>Falla de conexión/permisos en Azure: 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Airflow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 reintenta y deja logs de diagnóstico.</a:t>
            </a:r>
          </a:p>
          <a:p>
            <a:pPr algn="ctr" defTabSz="674688">
              <a:spcAft>
                <a:spcPts val="200"/>
              </a:spcAft>
              <a:defRPr sz="1030">
                <a:solidFill>
                  <a:srgbClr val="1E1E1E"/>
                </a:solidFill>
                <a:latin typeface="Aptos"/>
              </a:defRPr>
            </a:pPr>
            <a:r>
              <a:rPr lang="es-ES" dirty="0">
                <a:latin typeface="Space Grotesk" pitchFamily="2" charset="77"/>
                <a:cs typeface="Space Grotesk" pitchFamily="2" charset="77"/>
              </a:rPr>
              <a:t>Duplicados o reproceso: se archiva el archivo solo después de una carga exitosa.</a:t>
            </a:r>
          </a:p>
          <a:p>
            <a:pPr algn="ctr" defTabSz="674688">
              <a:spcAft>
                <a:spcPts val="200"/>
              </a:spcAft>
              <a:defRPr sz="1030">
                <a:solidFill>
                  <a:srgbClr val="1E1E1E"/>
                </a:solidFill>
                <a:latin typeface="Aptos"/>
              </a:defRPr>
            </a:pPr>
            <a:r>
              <a:rPr lang="es-ES" dirty="0">
                <a:latin typeface="Space Grotesk" pitchFamily="2" charset="77"/>
                <a:cs typeface="Space Grotesk" pitchFamily="2" charset="77"/>
              </a:rPr>
              <a:t>Archivo inválido o permisos locales: la tarea falla visible en 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Airflow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 para corrección manual.</a:t>
            </a:r>
          </a:p>
          <a:p>
            <a:pPr algn="ctr" defTabSz="674688">
              <a:spcAft>
                <a:spcPts val="200"/>
              </a:spcAft>
              <a:defRPr sz="1030">
                <a:solidFill>
                  <a:srgbClr val="1E1E1E"/>
                </a:solidFill>
                <a:latin typeface="Aptos"/>
              </a:defRPr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12794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1266077-BDCB-DE24-39C2-9780F94E7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B91EEA9C-7235-4DF7-6DA2-6912A61C20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8</a:t>
            </a:fld>
            <a:endParaRPr dirty="0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E3F521-A356-464A-3FE0-9D455E0294EA}"/>
              </a:ext>
            </a:extLst>
          </p:cNvPr>
          <p:cNvSpPr/>
          <p:nvPr/>
        </p:nvSpPr>
        <p:spPr>
          <a:xfrm>
            <a:off x="650756" y="1914839"/>
            <a:ext cx="5610618" cy="42537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2BFFF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  </a:t>
            </a:r>
          </a:p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    </a:t>
            </a: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AD2528-0118-1F04-3A34-D7077ED8D638}"/>
              </a:ext>
            </a:extLst>
          </p:cNvPr>
          <p:cNvSpPr/>
          <p:nvPr/>
        </p:nvSpPr>
        <p:spPr>
          <a:xfrm>
            <a:off x="6454856" y="1914839"/>
            <a:ext cx="5013059" cy="21358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02BFFF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  </a:t>
            </a:r>
          </a:p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    </a:t>
            </a: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4" name="Google Shape;141;p19">
            <a:extLst>
              <a:ext uri="{FF2B5EF4-FFF2-40B4-BE49-F238E27FC236}">
                <a16:creationId xmlns:a16="http://schemas.microsoft.com/office/drawing/2014/main" id="{D780B63F-2DFE-9AD8-EE0B-BE84D57EB912}"/>
              </a:ext>
            </a:extLst>
          </p:cNvPr>
          <p:cNvSpPr txBox="1"/>
          <p:nvPr/>
        </p:nvSpPr>
        <p:spPr>
          <a:xfrm>
            <a:off x="650756" y="1131052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Uso de Git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5" name="Google Shape;140;p19">
            <a:extLst>
              <a:ext uri="{FF2B5EF4-FFF2-40B4-BE49-F238E27FC236}">
                <a16:creationId xmlns:a16="http://schemas.microsoft.com/office/drawing/2014/main" id="{1A7BCA44-1117-5255-A77A-9324D07BEB44}"/>
              </a:ext>
            </a:extLst>
          </p:cNvPr>
          <p:cNvSpPr txBox="1"/>
          <p:nvPr/>
        </p:nvSpPr>
        <p:spPr>
          <a:xfrm>
            <a:off x="2781402" y="6188658"/>
            <a:ext cx="6750361" cy="4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PE" dirty="0">
                <a:latin typeface="Space Grotesk" pitchFamily="2" charset="77"/>
                <a:cs typeface="Space Grotesk" pitchFamily="2" charset="77"/>
              </a:rPr>
              <a:t>🌐 </a:t>
            </a:r>
            <a:r>
              <a:rPr lang="en-PE" dirty="0">
                <a:solidFill>
                  <a:schemeClr val="tx1">
                    <a:lumMod val="65000"/>
                    <a:lumOff val="35000"/>
                  </a:schemeClr>
                </a:solidFill>
                <a:latin typeface="Space Grotesk" pitchFamily="2" charset="77"/>
                <a:cs typeface="Space Grotesk" pitchFamily="2" charset="77"/>
              </a:rPr>
              <a:t>Repositorio GitHub</a:t>
            </a:r>
            <a:r>
              <a:rPr lang="en-PE" dirty="0">
                <a:latin typeface="Space Grotesk" pitchFamily="2" charset="77"/>
                <a:cs typeface="Space Grotesk" pitchFamily="2" charset="77"/>
              </a:rPr>
              <a:t>: </a:t>
            </a:r>
            <a:r>
              <a:rPr lang="en-US" dirty="0">
                <a:solidFill>
                  <a:srgbClr val="00B0F0"/>
                </a:solidFill>
                <a:latin typeface="Space Grotesk" pitchFamily="2" charset="77"/>
                <a:cs typeface="Space Grotesk" pitchFamily="2" charset="77"/>
              </a:rPr>
              <a:t>https://</a:t>
            </a:r>
            <a:r>
              <a:rPr lang="en-US" dirty="0" err="1">
                <a:solidFill>
                  <a:srgbClr val="00B0F0"/>
                </a:solidFill>
                <a:latin typeface="Space Grotesk" pitchFamily="2" charset="77"/>
                <a:cs typeface="Space Grotesk" pitchFamily="2" charset="77"/>
              </a:rPr>
              <a:t>github.com</a:t>
            </a:r>
            <a:r>
              <a:rPr lang="en-US" dirty="0">
                <a:solidFill>
                  <a:srgbClr val="00B0F0"/>
                </a:solidFill>
                <a:latin typeface="Space Grotesk" pitchFamily="2" charset="77"/>
                <a:cs typeface="Space Grotesk" pitchFamily="2" charset="77"/>
              </a:rPr>
              <a:t>/de-</a:t>
            </a:r>
            <a:r>
              <a:rPr lang="en-US" dirty="0" err="1">
                <a:solidFill>
                  <a:srgbClr val="00B0F0"/>
                </a:solidFill>
                <a:latin typeface="Space Grotesk" pitchFamily="2" charset="77"/>
                <a:cs typeface="Space Grotesk" pitchFamily="2" charset="77"/>
              </a:rPr>
              <a:t>atintaya</a:t>
            </a:r>
            <a:r>
              <a:rPr lang="en-US" dirty="0">
                <a:solidFill>
                  <a:srgbClr val="00B0F0"/>
                </a:solidFill>
                <a:latin typeface="Space Grotesk" pitchFamily="2" charset="77"/>
                <a:cs typeface="Space Grotesk" pitchFamily="2" charset="77"/>
              </a:rPr>
              <a:t>/</a:t>
            </a:r>
            <a:r>
              <a:rPr lang="en-US" dirty="0" err="1">
                <a:solidFill>
                  <a:srgbClr val="00B0F0"/>
                </a:solidFill>
                <a:latin typeface="Space Grotesk" pitchFamily="2" charset="77"/>
                <a:cs typeface="Space Grotesk" pitchFamily="2" charset="77"/>
              </a:rPr>
              <a:t>dsai</a:t>
            </a:r>
            <a:r>
              <a:rPr lang="en-US" dirty="0">
                <a:solidFill>
                  <a:srgbClr val="00B0F0"/>
                </a:solidFill>
                <a:latin typeface="Space Grotesk" pitchFamily="2" charset="77"/>
                <a:cs typeface="Space Grotesk" pitchFamily="2" charset="77"/>
              </a:rPr>
              <a:t>-de-airflow/</a:t>
            </a:r>
            <a:r>
              <a:rPr lang="en-PE" dirty="0">
                <a:solidFill>
                  <a:srgbClr val="00B0F0"/>
                </a:solidFill>
                <a:latin typeface="Space Grotesk" pitchFamily="2" charset="77"/>
                <a:cs typeface="Space Grotesk" pitchFamily="2" charset="77"/>
              </a:rPr>
              <a:t> </a:t>
            </a:r>
            <a:endParaRPr lang="es-PE" dirty="0">
              <a:solidFill>
                <a:srgbClr val="00B0F0"/>
              </a:solidFill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E4AFE641-AA39-EE0B-368E-B94EDAC11856}"/>
              </a:ext>
            </a:extLst>
          </p:cNvPr>
          <p:cNvSpPr/>
          <p:nvPr/>
        </p:nvSpPr>
        <p:spPr>
          <a:xfrm>
            <a:off x="6454857" y="4181877"/>
            <a:ext cx="5013058" cy="1986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2BF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4719662-9F99-988E-A293-B4DE56A42ED6}"/>
              </a:ext>
            </a:extLst>
          </p:cNvPr>
          <p:cNvSpPr/>
          <p:nvPr/>
        </p:nvSpPr>
        <p:spPr>
          <a:xfrm>
            <a:off x="6592017" y="4597778"/>
            <a:ext cx="4624108" cy="15707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7182D"/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g2-proyecto-parcial/
├── dags/ g2_proyecto_parcial.py
├── scripts/ azure_upload.py, helpers.py
├── data/ MB51_2023_01.csv
└── requirements.txt, README.md</a:t>
            </a:r>
            <a:endParaRPr lang="en-US" sz="1100" dirty="0">
              <a:latin typeface="Space Grotesk" pitchFamily="2" charset="77"/>
              <a:cs typeface="Space Grotesk" pitchFamily="2" charset="77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92925D4-BB04-01E0-2C28-32BAD2DA9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312649"/>
              </p:ext>
            </p:extLst>
          </p:nvPr>
        </p:nvGraphicFramePr>
        <p:xfrm>
          <a:off x="6614893" y="2456621"/>
          <a:ext cx="466199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6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51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002060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🌿 Rama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002060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🎯 Prop</a:t>
                      </a:r>
                      <a:r>
                        <a:rPr lang="es-ES" sz="1400" b="1" dirty="0" err="1">
                          <a:solidFill>
                            <a:srgbClr val="002060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ósito</a:t>
                      </a:r>
                      <a:endParaRPr sz="1400" b="1" dirty="0">
                        <a:solidFill>
                          <a:srgbClr val="002060"/>
                        </a:solidFill>
                        <a:latin typeface="Space Grotesk" pitchFamily="2" charset="77"/>
                        <a:cs typeface="Space Grotesk" pitchFamily="2" charset="77"/>
                      </a:endParaRP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6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dirty="0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main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dirty="0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Código </a:t>
                      </a:r>
                      <a:r>
                        <a:rPr sz="1100" dirty="0" err="1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esta</a:t>
                      </a:r>
                      <a:r>
                        <a:rPr lang="es-ES" sz="1100" dirty="0" err="1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ble</a:t>
                      </a:r>
                      <a:r>
                        <a:rPr sz="1100" dirty="0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 y </a:t>
                      </a:r>
                      <a:r>
                        <a:rPr sz="1100" dirty="0" err="1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entregable</a:t>
                      </a:r>
                      <a:endParaRPr sz="1100" dirty="0">
                        <a:solidFill>
                          <a:srgbClr val="07182D"/>
                        </a:solidFill>
                        <a:latin typeface="Space Grotesk" pitchFamily="2" charset="77"/>
                        <a:cs typeface="Space Grotesk" pitchFamily="2" charset="77"/>
                      </a:endParaRP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6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dirty="0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develop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dirty="0" err="1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Integración</a:t>
                      </a:r>
                      <a:r>
                        <a:rPr sz="1100" dirty="0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 de </a:t>
                      </a:r>
                      <a:r>
                        <a:rPr sz="1100" dirty="0" err="1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funcionalidades</a:t>
                      </a:r>
                      <a:endParaRPr sz="1100" dirty="0">
                        <a:solidFill>
                          <a:srgbClr val="07182D"/>
                        </a:solidFill>
                        <a:latin typeface="Space Grotesk" pitchFamily="2" charset="77"/>
                        <a:cs typeface="Space Grotesk" pitchFamily="2" charset="77"/>
                      </a:endParaRP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5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dirty="0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`feature/</a:t>
                      </a:r>
                      <a:r>
                        <a:rPr lang="es-ES" sz="1100" dirty="0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dag-g2-proyecto</a:t>
                      </a:r>
                      <a:endParaRPr sz="1100" dirty="0">
                        <a:solidFill>
                          <a:srgbClr val="07182D"/>
                        </a:solidFill>
                        <a:latin typeface="Space Grotesk" pitchFamily="2" charset="77"/>
                        <a:cs typeface="Space Grotesk" pitchFamily="2" charset="77"/>
                      </a:endParaRP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dirty="0">
                          <a:solidFill>
                            <a:srgbClr val="07182D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DAG `g2_proyecto_parcial.py`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Google Shape;140;p19">
            <a:extLst>
              <a:ext uri="{FF2B5EF4-FFF2-40B4-BE49-F238E27FC236}">
                <a16:creationId xmlns:a16="http://schemas.microsoft.com/office/drawing/2014/main" id="{37B86598-7338-CBEF-6229-92DE94D146FB}"/>
              </a:ext>
            </a:extLst>
          </p:cNvPr>
          <p:cNvSpPr txBox="1"/>
          <p:nvPr/>
        </p:nvSpPr>
        <p:spPr>
          <a:xfrm>
            <a:off x="6592017" y="2000049"/>
            <a:ext cx="4416759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Ramas Utilizadas</a:t>
            </a:r>
            <a:endParaRPr lang="en-US" sz="20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11B8DCB-9128-17DF-F942-414A6732FF33}"/>
              </a:ext>
            </a:extLst>
          </p:cNvPr>
          <p:cNvSpPr/>
          <p:nvPr/>
        </p:nvSpPr>
        <p:spPr>
          <a:xfrm>
            <a:off x="831973" y="2511487"/>
            <a:ext cx="2527190" cy="153924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D6D6D6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F4F31B4-6A0E-ED62-DA04-EEA97213D44B}"/>
              </a:ext>
            </a:extLst>
          </p:cNvPr>
          <p:cNvSpPr/>
          <p:nvPr/>
        </p:nvSpPr>
        <p:spPr>
          <a:xfrm>
            <a:off x="915113" y="2694367"/>
            <a:ext cx="2261170" cy="129296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182D"/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Control ordenado de versiones a lo largo del ciclo de desarrollo</a:t>
            </a:r>
            <a:endParaRPr lang="en-US" sz="16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37F7856-2555-4DE3-669E-BC6159019408}"/>
              </a:ext>
            </a:extLst>
          </p:cNvPr>
          <p:cNvSpPr/>
          <p:nvPr/>
        </p:nvSpPr>
        <p:spPr>
          <a:xfrm>
            <a:off x="3550250" y="2511487"/>
            <a:ext cx="2527190" cy="153924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D6D6D6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5164EA2-7A1D-EC41-F843-28524D438096}"/>
              </a:ext>
            </a:extLst>
          </p:cNvPr>
          <p:cNvSpPr/>
          <p:nvPr/>
        </p:nvSpPr>
        <p:spPr>
          <a:xfrm>
            <a:off x="3633390" y="2694367"/>
            <a:ext cx="2261170" cy="129296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182D"/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Integración progresiva de funcionalidades sin afectar el código estable</a:t>
            </a:r>
            <a:endParaRPr lang="en-US" sz="16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A1447F5-A35B-39CB-9288-653AB7399056}"/>
              </a:ext>
            </a:extLst>
          </p:cNvPr>
          <p:cNvSpPr/>
          <p:nvPr/>
        </p:nvSpPr>
        <p:spPr>
          <a:xfrm>
            <a:off x="831973" y="4251106"/>
            <a:ext cx="2527190" cy="153924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D6D6D6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D09E4B9-78CA-A1E6-907F-CEB989330710}"/>
              </a:ext>
            </a:extLst>
          </p:cNvPr>
          <p:cNvSpPr/>
          <p:nvPr/>
        </p:nvSpPr>
        <p:spPr>
          <a:xfrm>
            <a:off x="915113" y="4433986"/>
            <a:ext cx="2261170" cy="129296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182D"/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Trazabilidad de cambios asociados a tareas específicas del proyecto</a:t>
            </a:r>
            <a:endParaRPr lang="en-US" sz="16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4B9CBC5-D50C-BB73-86EE-B338082439B1}"/>
              </a:ext>
            </a:extLst>
          </p:cNvPr>
          <p:cNvSpPr/>
          <p:nvPr/>
        </p:nvSpPr>
        <p:spPr>
          <a:xfrm>
            <a:off x="3550250" y="4251106"/>
            <a:ext cx="2527190" cy="153924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D6D6D6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92E157C-613A-6655-2E26-72284BC8E4F9}"/>
              </a:ext>
            </a:extLst>
          </p:cNvPr>
          <p:cNvSpPr/>
          <p:nvPr/>
        </p:nvSpPr>
        <p:spPr>
          <a:xfrm>
            <a:off x="3633390" y="4433986"/>
            <a:ext cx="2261170" cy="129296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182D"/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Separación clara entre código en desarrollo y código listo para entrega</a:t>
            </a:r>
            <a:endParaRPr lang="en-US" sz="16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9" name="Google Shape;140;p19">
            <a:extLst>
              <a:ext uri="{FF2B5EF4-FFF2-40B4-BE49-F238E27FC236}">
                <a16:creationId xmlns:a16="http://schemas.microsoft.com/office/drawing/2014/main" id="{FF4FCE54-E889-F6A9-C3BC-D792965F6E9B}"/>
              </a:ext>
            </a:extLst>
          </p:cNvPr>
          <p:cNvSpPr txBox="1"/>
          <p:nvPr/>
        </p:nvSpPr>
        <p:spPr>
          <a:xfrm>
            <a:off x="833088" y="2000049"/>
            <a:ext cx="4416759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Estrategia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GitFlow</a:t>
            </a:r>
            <a:endParaRPr lang="en-US" sz="20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20" name="Google Shape;140;p19">
            <a:extLst>
              <a:ext uri="{FF2B5EF4-FFF2-40B4-BE49-F238E27FC236}">
                <a16:creationId xmlns:a16="http://schemas.microsoft.com/office/drawing/2014/main" id="{62604D2C-28E7-9080-0B95-B1EC2957B0AE}"/>
              </a:ext>
            </a:extLst>
          </p:cNvPr>
          <p:cNvSpPr txBox="1"/>
          <p:nvPr/>
        </p:nvSpPr>
        <p:spPr>
          <a:xfrm>
            <a:off x="6592018" y="4250698"/>
            <a:ext cx="4416759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Organización del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pace Grotesk" pitchFamily="2" charset="77"/>
                <a:ea typeface="CiscoSansTT" pitchFamily="34" charset="-122"/>
                <a:cs typeface="Space Grotesk" pitchFamily="2" charset="77"/>
              </a:rPr>
              <a:t>código</a:t>
            </a:r>
            <a:endParaRPr lang="en-US" sz="2000"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77652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8A64335-7DB4-FFE4-B5AB-B2ACEFD0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FCA3435F-EA2A-2C69-2CE0-F528AC1EA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9</a:t>
            </a:fld>
            <a:endParaRPr dirty="0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CD9EA27-10CA-7E44-7A93-45CBFBEA07A2}"/>
              </a:ext>
            </a:extLst>
          </p:cNvPr>
          <p:cNvSpPr/>
          <p:nvPr/>
        </p:nvSpPr>
        <p:spPr>
          <a:xfrm>
            <a:off x="738400" y="3069584"/>
            <a:ext cx="6647920" cy="26565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2BFFF"/>
            </a:solidFill>
            <a:prstDash val="solid"/>
          </a:ln>
        </p:spPr>
        <p:txBody>
          <a:bodyPr/>
          <a:lstStyle/>
          <a:p>
            <a:r>
              <a:rPr lang="es-ES" dirty="0">
                <a:latin typeface="Space Grotesk" pitchFamily="2" charset="77"/>
                <a:cs typeface="Space Grotesk" pitchFamily="2" charset="77"/>
              </a:rPr>
              <a:t>  </a:t>
            </a:r>
          </a:p>
          <a:p>
            <a:r>
              <a:rPr lang="es-ES" b="1" dirty="0">
                <a:solidFill>
                  <a:srgbClr val="0070C0"/>
                </a:solidFill>
                <a:latin typeface="Space Grotesk" pitchFamily="2" charset="77"/>
                <a:cs typeface="Space Grotesk" pitchFamily="2" charset="77"/>
              </a:rPr>
              <a:t> </a:t>
            </a: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3" name="Google Shape;141;p19">
            <a:extLst>
              <a:ext uri="{FF2B5EF4-FFF2-40B4-BE49-F238E27FC236}">
                <a16:creationId xmlns:a16="http://schemas.microsoft.com/office/drawing/2014/main" id="{7E3DDBE5-2814-DE04-6043-4ACAABE2BBCE}"/>
              </a:ext>
            </a:extLst>
          </p:cNvPr>
          <p:cNvSpPr txBox="1"/>
          <p:nvPr/>
        </p:nvSpPr>
        <p:spPr>
          <a:xfrm>
            <a:off x="738400" y="1025022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 pitchFamily="2" charset="77"/>
                <a:ea typeface="Space Grotesk"/>
                <a:cs typeface="Space Grotesk" pitchFamily="2" charset="77"/>
                <a:sym typeface="Space Grotesk"/>
              </a:rPr>
              <a:t>Resultados y validación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EF8A0-8F8D-EB41-32DE-5EA13A30B2AA}"/>
              </a:ext>
            </a:extLst>
          </p:cNvPr>
          <p:cNvSpPr txBox="1"/>
          <p:nvPr/>
        </p:nvSpPr>
        <p:spPr>
          <a:xfrm>
            <a:off x="870165" y="3166820"/>
            <a:ext cx="1420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E" sz="1800" b="1" dirty="0">
                <a:solidFill>
                  <a:srgbClr val="0070C0"/>
                </a:solidFill>
                <a:latin typeface="Space Grotesk" pitchFamily="2" charset="77"/>
                <a:cs typeface="Space Grotesk" pitchFamily="2" charset="77"/>
              </a:rPr>
              <a:t>Airflow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5E754BD7-A272-1105-D384-7FD3695742A7}"/>
              </a:ext>
            </a:extLst>
          </p:cNvPr>
          <p:cNvSpPr/>
          <p:nvPr/>
        </p:nvSpPr>
        <p:spPr>
          <a:xfrm>
            <a:off x="738400" y="1719318"/>
            <a:ext cx="5164560" cy="10484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r>
              <a:rPr lang="es-ES" dirty="0">
                <a:latin typeface="Space Grotesk" pitchFamily="2" charset="77"/>
                <a:cs typeface="Space Grotesk" pitchFamily="2" charset="77"/>
              </a:rPr>
              <a:t>  </a:t>
            </a: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  <a:latin typeface="Aptos"/>
              </a:defRPr>
            </a:pPr>
            <a:endParaRPr lang="es-ES" dirty="0">
              <a:latin typeface="Space Grotesk" pitchFamily="2" charset="77"/>
              <a:cs typeface="Space Grotesk" pitchFamily="2" charset="77"/>
            </a:endParaRP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  <a:latin typeface="Aptos"/>
              </a:defRPr>
            </a:pPr>
            <a:r>
              <a:rPr lang="es-ES" dirty="0">
                <a:latin typeface="Space Grotesk" pitchFamily="2" charset="77"/>
                <a:cs typeface="Space Grotesk" pitchFamily="2" charset="77"/>
              </a:rPr>
              <a:t>   CRITICAL - Process 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terminated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 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by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 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signal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. </a:t>
            </a: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  <a:latin typeface="Aptos"/>
              </a:defRPr>
            </a:pPr>
            <a:r>
              <a:rPr lang="es-ES" dirty="0">
                <a:latin typeface="Space Grotesk" pitchFamily="2" charset="77"/>
                <a:cs typeface="Space Grotesk" pitchFamily="2" charset="77"/>
              </a:rPr>
              <a:t>   #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TaskRunner-killed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: 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signal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=-9: 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signal_name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="SIGKILL": 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source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="</a:t>
            </a:r>
            <a:r>
              <a:rPr lang="es-ES" dirty="0" err="1">
                <a:latin typeface="Space Grotesk" pitchFamily="2" charset="77"/>
                <a:cs typeface="Space Grotesk" pitchFamily="2" charset="77"/>
              </a:rPr>
              <a:t>task</a:t>
            </a:r>
            <a:r>
              <a:rPr lang="es-ES" dirty="0">
                <a:latin typeface="Space Grotesk" pitchFamily="2" charset="77"/>
                <a:cs typeface="Space Grotesk" pitchFamily="2" charset="77"/>
              </a:rPr>
              <a:t>"</a:t>
            </a:r>
          </a:p>
          <a:p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EF2D2-E91A-B37C-1DFA-C5ABB05DA34D}"/>
              </a:ext>
            </a:extLst>
          </p:cNvPr>
          <p:cNvSpPr txBox="1"/>
          <p:nvPr/>
        </p:nvSpPr>
        <p:spPr>
          <a:xfrm>
            <a:off x="738400" y="1781147"/>
            <a:ext cx="2788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accent2"/>
                </a:solidFill>
                <a:latin typeface="Space Grotesk" pitchFamily="2" charset="77"/>
                <a:cs typeface="Space Grotesk" pitchFamily="2" charset="77"/>
              </a:rPr>
              <a:t> Error de Ejecución: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F34B10D6-49E3-F98E-B7AA-817B2A836C2D}"/>
              </a:ext>
            </a:extLst>
          </p:cNvPr>
          <p:cNvSpPr/>
          <p:nvPr/>
        </p:nvSpPr>
        <p:spPr>
          <a:xfrm>
            <a:off x="6096000" y="1719318"/>
            <a:ext cx="5357601" cy="10484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r>
              <a:rPr lang="es-ES" dirty="0">
                <a:latin typeface="Space Grotesk" pitchFamily="2" charset="77"/>
                <a:cs typeface="Space Grotesk" pitchFamily="2" charset="77"/>
              </a:rPr>
              <a:t>  </a:t>
            </a: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  <a:latin typeface="Aptos"/>
              </a:defRPr>
            </a:pPr>
            <a:endParaRPr lang="es-ES" dirty="0">
              <a:latin typeface="Space Grotesk" pitchFamily="2" charset="77"/>
              <a:cs typeface="Space Grotesk" pitchFamily="2" charset="77"/>
            </a:endParaRP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  <a:latin typeface="Aptos"/>
              </a:defRPr>
            </a:pPr>
            <a:r>
              <a:rPr lang="en-US" sz="1050" dirty="0">
                <a:latin typeface="Space Grotesk" pitchFamily="2" charset="77"/>
                <a:cs typeface="Space Grotesk" pitchFamily="2" charset="77"/>
              </a:rPr>
              <a:t>   </a:t>
            </a:r>
            <a:r>
              <a:rPr lang="en-US" sz="1050" dirty="0" err="1">
                <a:latin typeface="Space Grotesk" pitchFamily="2" charset="77"/>
                <a:cs typeface="Space Grotesk" pitchFamily="2" charset="77"/>
              </a:rPr>
              <a:t>Incrementar</a:t>
            </a:r>
            <a:r>
              <a:rPr lang="en-US" sz="1050" dirty="0">
                <a:latin typeface="Space Grotesk" pitchFamily="2" charset="77"/>
                <a:cs typeface="Space Grotesk" pitchFamily="2" charset="77"/>
              </a:rPr>
              <a:t> </a:t>
            </a:r>
            <a:r>
              <a:rPr lang="en-US" sz="1050" dirty="0" err="1">
                <a:latin typeface="Space Grotesk" pitchFamily="2" charset="77"/>
                <a:cs typeface="Space Grotesk" pitchFamily="2" charset="77"/>
              </a:rPr>
              <a:t>el</a:t>
            </a:r>
            <a:r>
              <a:rPr lang="en-US" sz="1050" dirty="0">
                <a:latin typeface="Space Grotesk" pitchFamily="2" charset="77"/>
                <a:cs typeface="Space Grotesk" pitchFamily="2" charset="77"/>
              </a:rPr>
              <a:t> </a:t>
            </a:r>
            <a:r>
              <a:rPr lang="en-US" sz="1050" dirty="0" err="1">
                <a:latin typeface="Space Grotesk" pitchFamily="2" charset="77"/>
                <a:cs typeface="Space Grotesk" pitchFamily="2" charset="77"/>
              </a:rPr>
              <a:t>límite</a:t>
            </a:r>
            <a:r>
              <a:rPr lang="en-US" sz="1050" dirty="0">
                <a:latin typeface="Space Grotesk" pitchFamily="2" charset="77"/>
                <a:cs typeface="Space Grotesk" pitchFamily="2" charset="77"/>
              </a:rPr>
              <a:t> </a:t>
            </a:r>
            <a:r>
              <a:rPr lang="en-US" sz="1050" dirty="0" err="1">
                <a:latin typeface="Space Grotesk" pitchFamily="2" charset="77"/>
                <a:cs typeface="Space Grotesk" pitchFamily="2" charset="77"/>
              </a:rPr>
              <a:t>máximo</a:t>
            </a:r>
            <a:r>
              <a:rPr lang="en-US" sz="1050" dirty="0">
                <a:latin typeface="Space Grotesk" pitchFamily="2" charset="77"/>
                <a:cs typeface="Space Grotesk" pitchFamily="2" charset="77"/>
              </a:rPr>
              <a:t> de RAM de 4G a 6G para la VM</a:t>
            </a: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  <a:latin typeface="Aptos"/>
              </a:defRPr>
            </a:pPr>
            <a:endParaRPr lang="es-ES" dirty="0">
              <a:latin typeface="Space Grotesk" pitchFamily="2" charset="77"/>
              <a:cs typeface="Space Grotesk" pitchFamily="2" charset="77"/>
            </a:endParaRPr>
          </a:p>
          <a:p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D968F5-C6E0-54F5-49E0-0E4E6535D2AA}"/>
              </a:ext>
            </a:extLst>
          </p:cNvPr>
          <p:cNvSpPr txBox="1"/>
          <p:nvPr/>
        </p:nvSpPr>
        <p:spPr>
          <a:xfrm>
            <a:off x="6096000" y="1781147"/>
            <a:ext cx="2788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accent2"/>
                </a:solidFill>
                <a:latin typeface="Space Grotesk" pitchFamily="2" charset="77"/>
                <a:cs typeface="Space Grotesk" pitchFamily="2" charset="77"/>
              </a:rPr>
              <a:t> Solución: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2B8807E-47F1-E2F4-5807-31EF3A684E19}"/>
              </a:ext>
            </a:extLst>
          </p:cNvPr>
          <p:cNvSpPr/>
          <p:nvPr/>
        </p:nvSpPr>
        <p:spPr>
          <a:xfrm>
            <a:off x="7582019" y="3069584"/>
            <a:ext cx="3871581" cy="26565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2BFFF"/>
            </a:solidFill>
            <a:prstDash val="solid"/>
          </a:ln>
        </p:spPr>
        <p:txBody>
          <a:bodyPr/>
          <a:lstStyle/>
          <a:p>
            <a:r>
              <a:rPr lang="es-ES" dirty="0">
                <a:latin typeface="Space Grotesk" pitchFamily="2" charset="77"/>
                <a:cs typeface="Space Grotesk" pitchFamily="2" charset="77"/>
              </a:rPr>
              <a:t>  </a:t>
            </a:r>
          </a:p>
          <a:p>
            <a:r>
              <a:rPr lang="es-ES" b="1" dirty="0">
                <a:solidFill>
                  <a:srgbClr val="0070C0"/>
                </a:solidFill>
                <a:latin typeface="Space Grotesk" pitchFamily="2" charset="77"/>
                <a:cs typeface="Space Grotesk" pitchFamily="2" charset="77"/>
              </a:rPr>
              <a:t> </a:t>
            </a: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951BA4-04DA-7C71-54A4-9BC31195F600}"/>
              </a:ext>
            </a:extLst>
          </p:cNvPr>
          <p:cNvSpPr txBox="1"/>
          <p:nvPr/>
        </p:nvSpPr>
        <p:spPr>
          <a:xfrm>
            <a:off x="7657734" y="3166820"/>
            <a:ext cx="206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E" sz="1800" b="1" dirty="0">
                <a:solidFill>
                  <a:srgbClr val="0070C0"/>
                </a:solidFill>
                <a:latin typeface="Space Grotesk" pitchFamily="2" charset="77"/>
                <a:cs typeface="Space Grotesk" pitchFamily="2" charset="77"/>
              </a:rPr>
              <a:t>Pull Request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E3FC19-C677-D40C-6C10-431D699BB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939" y="3837936"/>
            <a:ext cx="3629534" cy="14835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F061C1-E4E1-DF70-D828-75EF86088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7" y="3536152"/>
            <a:ext cx="6368183" cy="207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59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31AA438-53BF-C29C-EE25-FA9AE491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E2742497-DBED-2624-EA0E-58752E4AD081}"/>
              </a:ext>
            </a:extLst>
          </p:cNvPr>
          <p:cNvSpPr txBox="1"/>
          <p:nvPr/>
        </p:nvSpPr>
        <p:spPr>
          <a:xfrm>
            <a:off x="650756" y="1281139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chemeClr val="tx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Desafíos encontrados</a:t>
            </a:r>
            <a:endParaRPr lang="es-PE" sz="400" dirty="0">
              <a:solidFill>
                <a:schemeClr val="tx1"/>
              </a:solidFill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3964FCA6-6E43-C1BB-166E-278FE4DA8C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10</a:t>
            </a:fld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D37FAC-0625-28EC-54FC-11D34E6AA42E}"/>
              </a:ext>
            </a:extLst>
          </p:cNvPr>
          <p:cNvSpPr/>
          <p:nvPr/>
        </p:nvSpPr>
        <p:spPr>
          <a:xfrm>
            <a:off x="1359763" y="2139518"/>
            <a:ext cx="4234649" cy="39683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None/>
            </a:pPr>
            <a:r>
              <a:rPr lang="en-PE" sz="2000" b="1" dirty="0">
                <a:solidFill>
                  <a:schemeClr val="tx1"/>
                </a:solidFill>
                <a:latin typeface="Space Grotesk" pitchFamily="2" charset="77"/>
                <a:cs typeface="Space Grotesk" pitchFamily="2" charset="77"/>
              </a:rPr>
              <a:t>Puntos Críticos</a:t>
            </a:r>
          </a:p>
          <a:p>
            <a:pPr>
              <a:buNone/>
            </a:pPr>
            <a:endParaRPr lang="en-PE" dirty="0">
              <a:solidFill>
                <a:schemeClr val="tx1"/>
              </a:solidFill>
              <a:latin typeface="Space Grotesk" pitchFamily="2" charset="77"/>
              <a:cs typeface="Space Grotesk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E" sz="1200" dirty="0">
                <a:solidFill>
                  <a:schemeClr val="tx1"/>
                </a:solidFill>
                <a:latin typeface="Space Grotesk" pitchFamily="2" charset="77"/>
                <a:cs typeface="Space Grotesk" pitchFamily="2" charset="77"/>
              </a:rPr>
              <a:t>Entender los datos de stock minero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E" sz="1200" dirty="0">
                <a:solidFill>
                  <a:schemeClr val="tx1"/>
                </a:solidFill>
                <a:latin typeface="Space Grotesk" pitchFamily="2" charset="77"/>
                <a:cs typeface="Space Grotesk" pitchFamily="2" charset="77"/>
              </a:rPr>
              <a:t>Aseguras conexión entre contenedor local y Azure Data Lake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E" sz="1200" dirty="0">
                <a:solidFill>
                  <a:schemeClr val="tx1"/>
                </a:solidFill>
                <a:latin typeface="Space Grotesk" pitchFamily="2" charset="77"/>
                <a:cs typeface="Space Grotesk" pitchFamily="2" charset="77"/>
              </a:rPr>
              <a:t>Asegura la inmutabilidad del archivo al extraerlo hacia Azure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E" sz="1200" dirty="0">
                <a:solidFill>
                  <a:schemeClr val="tx1"/>
                </a:solidFill>
                <a:latin typeface="Space Grotesk" pitchFamily="2" charset="77"/>
                <a:cs typeface="Space Grotesk" pitchFamily="2" charset="77"/>
              </a:rPr>
              <a:t>Coordinar subidas de código del pipeline sin generar conflictos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E09F4B8-2BAC-8DA0-35C5-7A4F4FE2F3BD}"/>
              </a:ext>
            </a:extLst>
          </p:cNvPr>
          <p:cNvSpPr/>
          <p:nvPr/>
        </p:nvSpPr>
        <p:spPr>
          <a:xfrm>
            <a:off x="6597589" y="2139517"/>
            <a:ext cx="4234649" cy="39683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PE" sz="2000" b="1" dirty="0">
                <a:solidFill>
                  <a:schemeClr val="tx1"/>
                </a:solidFill>
                <a:latin typeface="Space Grotesk" pitchFamily="2" charset="77"/>
                <a:cs typeface="Space Grotesk" pitchFamily="2" charset="77"/>
              </a:rPr>
              <a:t>Aprendizajes</a:t>
            </a:r>
            <a:endParaRPr lang="en-PE" sz="2000" dirty="0">
              <a:solidFill>
                <a:schemeClr val="tx1"/>
              </a:solidFill>
              <a:latin typeface="Space Grotesk" pitchFamily="2" charset="77"/>
              <a:cs typeface="Space Grotesk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PE" sz="1200" dirty="0">
              <a:solidFill>
                <a:schemeClr val="tx1"/>
              </a:solidFill>
              <a:latin typeface="Space Grotesk" pitchFamily="2" charset="77"/>
              <a:cs typeface="Space Grotesk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E" sz="1200" dirty="0">
                <a:solidFill>
                  <a:schemeClr val="tx1"/>
                </a:solidFill>
                <a:latin typeface="Space Grotesk" pitchFamily="2" charset="77"/>
                <a:cs typeface="Space Grotesk" pitchFamily="2" charset="77"/>
              </a:rPr>
              <a:t>Gestionar credenciales y estandarizar despliegue de contenedores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E" sz="1200" dirty="0">
                <a:solidFill>
                  <a:schemeClr val="tx1"/>
                </a:solidFill>
                <a:latin typeface="Space Grotesk" pitchFamily="2" charset="77"/>
                <a:cs typeface="Space Grotesk" pitchFamily="2" charset="77"/>
              </a:rPr>
              <a:t>El destino o Raw Zone debe ser replica exacta de la información original, de esta manera se garantiza la trazabilidad de los datos mineros en futuras transformaciones (silver y gold).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E" sz="1200" dirty="0">
                <a:solidFill>
                  <a:schemeClr val="tx1"/>
                </a:solidFill>
                <a:latin typeface="Space Grotesk" pitchFamily="2" charset="77"/>
                <a:cs typeface="Space Grotesk" pitchFamily="2" charset="77"/>
              </a:rPr>
              <a:t>Estandarizar el uso de Gitflow como buena práctica para proteger el entorno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2543611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D7AA7AB-95A2-6E64-F4C9-688843ACD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0E1158CC-82B5-76B8-E91A-F33301A7C9D0}"/>
              </a:ext>
            </a:extLst>
          </p:cNvPr>
          <p:cNvSpPr txBox="1"/>
          <p:nvPr/>
        </p:nvSpPr>
        <p:spPr>
          <a:xfrm>
            <a:off x="738400" y="129889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Próximos pasos hacia el proyecto final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5FCA9E21-0B65-9652-DCB8-22606BB1A7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11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2937B989-5786-5FDC-3153-8FCFC8661CDA}"/>
              </a:ext>
            </a:extLst>
          </p:cNvPr>
          <p:cNvSpPr txBox="1"/>
          <p:nvPr/>
        </p:nvSpPr>
        <p:spPr>
          <a:xfrm>
            <a:off x="738400" y="2204396"/>
            <a:ext cx="10332054" cy="335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¿Cómo conectarán esto con el Data Product futuro?</a:t>
            </a:r>
          </a:p>
          <a:p>
            <a:pPr marL="360363" algn="just"/>
            <a:r>
              <a:rPr lang="en-PE" sz="1500" dirty="0">
                <a:latin typeface="Space Grotesk" pitchFamily="2" charset="77"/>
                <a:cs typeface="Space Grotesk" pitchFamily="2" charset="77"/>
              </a:rPr>
              <a:t>Se conectará mediante un dashboard visual en un </a:t>
            </a:r>
            <a:r>
              <a:rPr lang="en-PE" sz="1500" b="1" dirty="0">
                <a:latin typeface="Space Grotesk" pitchFamily="2" charset="77"/>
                <a:cs typeface="Space Grotesk" pitchFamily="2" charset="77"/>
              </a:rPr>
              <a:t>portal web para proveedores</a:t>
            </a:r>
            <a:r>
              <a:rPr lang="en-PE" sz="1500" dirty="0">
                <a:latin typeface="Space Grotesk" pitchFamily="2" charset="77"/>
                <a:cs typeface="Space Grotesk" pitchFamily="2" charset="77"/>
              </a:rPr>
              <a:t> (ej. Power BI) para que visualicen su stock en tiempo real, enlazado a un </a:t>
            </a:r>
            <a:r>
              <a:rPr lang="en-PE" sz="1500" b="1" dirty="0">
                <a:latin typeface="Space Grotesk" pitchFamily="2" charset="77"/>
                <a:cs typeface="Space Grotesk" pitchFamily="2" charset="77"/>
              </a:rPr>
              <a:t>servicio de alertas automáticas</a:t>
            </a:r>
            <a:r>
              <a:rPr lang="en-PE" sz="1500" dirty="0">
                <a:latin typeface="Space Grotesk" pitchFamily="2" charset="77"/>
                <a:cs typeface="Space Grotesk" pitchFamily="2" charset="77"/>
              </a:rPr>
              <a:t> que enviará notificaciones por correo y generará solicitudes en SAP cuando se detecte desabastecimiento. </a:t>
            </a:r>
          </a:p>
          <a:p>
            <a:pPr marL="360363" algn="just"/>
            <a:r>
              <a:rPr lang="en-PE" sz="1500" dirty="0">
                <a:latin typeface="Space Grotesk" pitchFamily="2" charset="77"/>
                <a:cs typeface="Space Grotesk" pitchFamily="2" charset="77"/>
              </a:rPr>
              <a:t> </a:t>
            </a:r>
            <a:endParaRPr lang="es-PE" sz="2000" dirty="0">
              <a:latin typeface="Space Grotesk" pitchFamily="2" charset="77"/>
              <a:cs typeface="Space Grotesk" pitchFamily="2" charset="77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¿Qué tipo de tablas podría surgir en Silver/Gold?</a:t>
            </a:r>
          </a:p>
          <a:p>
            <a:pPr marL="404813" indent="-203200" algn="just"/>
            <a:r>
              <a:rPr lang="en-PE" sz="1500" dirty="0">
                <a:latin typeface="Space Grotesk" pitchFamily="2" charset="77"/>
                <a:cs typeface="Space Grotesk" pitchFamily="2" charset="77"/>
              </a:rPr>
              <a:t>  • Silver: Tablas depuradas y tipadas de inventario (sin duplicados), junto con una tabla de cuarentena para aislar registros con errores lógicos (como stock negativo).                                                   </a:t>
            </a:r>
          </a:p>
          <a:p>
            <a:pPr marL="404813" indent="-203200" algn="just"/>
            <a:r>
              <a:rPr lang="en-PE" sz="1500" dirty="0">
                <a:latin typeface="Space Grotesk" pitchFamily="2" charset="77"/>
                <a:cs typeface="Space Grotesk" pitchFamily="2" charset="77"/>
              </a:rPr>
              <a:t>  • Gold: Datamarts específicos como una tabla de alertas de reabastecimiento (materiales por debajo del stock mínimo) y una tabla de históricos de rotación de materiales. 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PE" sz="2000"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44628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89D9B7D-D1F2-302D-7D62-0817EDF45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9DDB9364-F56D-5570-4956-28849956AE28}"/>
              </a:ext>
            </a:extLst>
          </p:cNvPr>
          <p:cNvSpPr txBox="1"/>
          <p:nvPr/>
        </p:nvSpPr>
        <p:spPr>
          <a:xfrm>
            <a:off x="738400" y="129889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KPIs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DEC68049-1587-DB63-8012-1ADFA48C5E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12</a:t>
            </a:fld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CE6A20F-A7A7-B399-DE6A-E8ABB88659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3882116"/>
              </p:ext>
            </p:extLst>
          </p:nvPr>
        </p:nvGraphicFramePr>
        <p:xfrm>
          <a:off x="1918240" y="1810395"/>
          <a:ext cx="8651973" cy="4407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0831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B4C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DE30741F-029A-6FA4-1FB7-63957AA4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8;p25">
            <a:extLst>
              <a:ext uri="{FF2B5EF4-FFF2-40B4-BE49-F238E27FC236}">
                <a16:creationId xmlns:a16="http://schemas.microsoft.com/office/drawing/2014/main" id="{08CEC9DD-E250-18C8-62DC-C965EA3F5D2B}"/>
              </a:ext>
            </a:extLst>
          </p:cNvPr>
          <p:cNvSpPr txBox="1"/>
          <p:nvPr/>
        </p:nvSpPr>
        <p:spPr>
          <a:xfrm>
            <a:off x="1659730" y="2536468"/>
            <a:ext cx="8872539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s-PE" sz="11000" b="0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¡Gracias!</a:t>
            </a:r>
            <a:endParaRPr sz="1400" u="none" strike="noStrike" cap="none" dirty="0">
              <a:solidFill>
                <a:srgbClr val="000000"/>
              </a:solidFill>
              <a:latin typeface="Space Grotesk" pitchFamily="2" charset="77"/>
              <a:cs typeface="Space Grotesk" pitchFamily="2" charset="7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2363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4B4C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81" y="2800019"/>
            <a:ext cx="5192637" cy="1257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30182</TotalTime>
  <Words>1228</Words>
  <Application>Microsoft Macintosh PowerPoint</Application>
  <PresentationFormat>Widescreen</PresentationFormat>
  <Paragraphs>159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Arial</vt:lpstr>
      <vt:lpstr>Wingdings</vt:lpstr>
      <vt:lpstr>Space Grotesk Medium</vt:lpstr>
      <vt:lpstr>Space Grotesk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Shin Kishimoto</dc:creator>
  <cp:lastModifiedBy>Herles Pinedo Rivera</cp:lastModifiedBy>
  <cp:revision>96</cp:revision>
  <dcterms:created xsi:type="dcterms:W3CDTF">2023-05-04T18:59:39Z</dcterms:created>
  <dcterms:modified xsi:type="dcterms:W3CDTF">2026-06-06T19:19:48Z</dcterms:modified>
</cp:coreProperties>
</file>